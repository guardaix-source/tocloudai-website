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40080" y="822960"/>
            <a:ext cx="1371600" cy="1371600"/>
          </a:xfrm>
          <a:prstGeom prst="roundRect">
            <a:avLst>
              <a:gd name="adj" fmla="val 14667"/>
            </a:avLst>
          </a:prstGeom>
          <a:solidFill>
            <a:srgbClr val="FFFFFF"/>
          </a:solidFill>
          <a:ln/>
          <a:effectLst>
            <a:outerShdw sx="100000" sy="100000" kx="0" ky="0" algn="bl" rotWithShape="0" blurRad="228600" dist="76200" dir="5400000">
              <a:srgbClr val="0F172A">
                <a:alpha val="25000"/>
              </a:srgbClr>
            </a:outerShdw>
          </a:effectLst>
        </p:spPr>
      </p:sp>
      <p:pic>
        <p:nvPicPr>
          <p:cNvPr id="3" name="Image 0" descr="/tmp/pptx_build/assets/logo-icon.png">    </p:cNvPr>
          <p:cNvPicPr>
            <a:picLocks noChangeAspect="1"/>
          </p:cNvPicPr>
          <p:nvPr/>
        </p:nvPicPr>
        <p:blipFill>
          <a:blip r:embed="rId1"/>
          <a:stretch>
            <a:fillRect/>
          </a:stretch>
        </p:blipFill>
        <p:spPr>
          <a:xfrm>
            <a:off x="822960" y="1005840"/>
            <a:ext cx="1005840" cy="658368"/>
          </a:xfrm>
          <a:prstGeom prst="rect">
            <a:avLst/>
          </a:prstGeom>
        </p:spPr>
      </p:pic>
      <p:sp>
        <p:nvSpPr>
          <p:cNvPr id="4" name="Text 1"/>
          <p:cNvSpPr/>
          <p:nvPr/>
        </p:nvSpPr>
        <p:spPr>
          <a:xfrm>
            <a:off x="640080" y="2468880"/>
            <a:ext cx="8229600" cy="365760"/>
          </a:xfrm>
          <a:prstGeom prst="rect">
            <a:avLst/>
          </a:prstGeom>
          <a:noFill/>
          <a:ln/>
        </p:spPr>
        <p:txBody>
          <a:bodyPr wrap="square" lIns="0" tIns="0" rIns="0" bIns="0" rtlCol="0" anchor="ctr"/>
          <a:lstStyle/>
          <a:p>
            <a:pPr indent="0" marL="0">
              <a:buNone/>
            </a:pPr>
            <a:r>
              <a:rPr lang="en-US" sz="1300" b="1" spc="300" kern="0" dirty="0">
                <a:solidFill>
                  <a:srgbClr val="5B9CFF"/>
                </a:solidFill>
                <a:latin typeface="Consolas" pitchFamily="34" charset="0"/>
                <a:ea typeface="Consolas" pitchFamily="34" charset="-122"/>
                <a:cs typeface="Consolas" pitchFamily="34" charset="-120"/>
              </a:rPr>
              <a:t>ENTERPRISE THREAT DEFENSE</a:t>
            </a:r>
            <a:endParaRPr lang="en-US" sz="1300" dirty="0"/>
          </a:p>
        </p:txBody>
      </p:sp>
      <p:sp>
        <p:nvSpPr>
          <p:cNvPr id="5" name="Text 2"/>
          <p:cNvSpPr/>
          <p:nvPr/>
        </p:nvSpPr>
        <p:spPr>
          <a:xfrm>
            <a:off x="640080" y="2880360"/>
            <a:ext cx="10058400" cy="1737360"/>
          </a:xfrm>
          <a:prstGeom prst="rect">
            <a:avLst/>
          </a:prstGeom>
          <a:noFill/>
          <a:ln/>
        </p:spPr>
        <p:txBody>
          <a:bodyPr wrap="square" lIns="0" tIns="0" rIns="0" bIns="0" rtlCol="0" anchor="ctr"/>
          <a:lstStyle/>
          <a:p>
            <a:pPr indent="0" marL="0">
              <a:lnSpc>
                <a:spcPts val="5400"/>
              </a:lnSpc>
              <a:buNone/>
            </a:pPr>
            <a:r>
              <a:rPr lang="en-US" sz="4400" b="1" dirty="0">
                <a:solidFill>
                  <a:srgbClr val="FFFFFF"/>
                </a:solidFill>
                <a:latin typeface="Microsoft JhengHei" pitchFamily="34" charset="0"/>
                <a:ea typeface="Microsoft JhengHei" pitchFamily="34" charset="-122"/>
                <a:cs typeface="Microsoft JhengHei" pitchFamily="34" charset="-120"/>
              </a:rPr>
              <a:t>把雜亂的資安事件，</a:t>
            </a:r>
            <a:endParaRPr lang="en-US" sz="4400" dirty="0"/>
          </a:p>
          <a:p>
            <a:pPr indent="0" marL="0">
              <a:lnSpc>
                <a:spcPts val="5400"/>
              </a:lnSpc>
              <a:buNone/>
            </a:pPr>
            <a:r>
              <a:rPr lang="en-US" sz="4400" b="1" dirty="0">
                <a:solidFill>
                  <a:srgbClr val="6FA8FF"/>
                </a:solidFill>
                <a:latin typeface="Microsoft JhengHei" pitchFamily="34" charset="0"/>
                <a:ea typeface="Microsoft JhengHei" pitchFamily="34" charset="-122"/>
                <a:cs typeface="Microsoft JhengHei" pitchFamily="34" charset="-120"/>
              </a:rPr>
              <a:t>變成有序的防禦體系</a:t>
            </a:r>
            <a:endParaRPr lang="en-US" sz="4400" dirty="0"/>
          </a:p>
        </p:txBody>
      </p:sp>
      <p:sp>
        <p:nvSpPr>
          <p:cNvPr id="6" name="Text 3"/>
          <p:cNvSpPr/>
          <p:nvPr/>
        </p:nvSpPr>
        <p:spPr>
          <a:xfrm>
            <a:off x="640080" y="4617720"/>
            <a:ext cx="9601200" cy="457200"/>
          </a:xfrm>
          <a:prstGeom prst="rect">
            <a:avLst/>
          </a:prstGeom>
          <a:noFill/>
          <a:ln/>
        </p:spPr>
        <p:txBody>
          <a:bodyPr wrap="square" lIns="0" tIns="0" rIns="0" bIns="0" rtlCol="0" anchor="ctr"/>
          <a:lstStyle/>
          <a:p>
            <a:pPr indent="0" marL="0">
              <a:buNone/>
            </a:pPr>
            <a:r>
              <a:rPr lang="en-US" sz="1600" dirty="0">
                <a:solidFill>
                  <a:srgbClr val="AAB4C8"/>
                </a:solidFill>
                <a:latin typeface="Microsoft JhengHei" pitchFamily="34" charset="0"/>
                <a:ea typeface="Microsoft JhengHei" pitchFamily="34" charset="-122"/>
                <a:cs typeface="Microsoft JhengHei" pitchFamily="34" charset="-120"/>
              </a:rPr>
              <a:t>企業資安維運與威脅情資訂閱服務　｜　向雲智慧 TocloudAI</a:t>
            </a:r>
            <a:endParaRPr lang="en-US" sz="1600" dirty="0"/>
          </a:p>
        </p:txBody>
      </p:sp>
      <p:sp>
        <p:nvSpPr>
          <p:cNvPr id="7" name="Shape 4"/>
          <p:cNvSpPr/>
          <p:nvPr/>
        </p:nvSpPr>
        <p:spPr>
          <a:xfrm>
            <a:off x="640080" y="5257800"/>
            <a:ext cx="146304" cy="146304"/>
          </a:xfrm>
          <a:prstGeom prst="ellipse">
            <a:avLst/>
          </a:prstGeom>
          <a:solidFill>
            <a:srgbClr val="0D9488"/>
          </a:solidFill>
          <a:ln/>
        </p:spPr>
      </p:sp>
      <p:sp>
        <p:nvSpPr>
          <p:cNvPr id="8" name="Text 5"/>
          <p:cNvSpPr/>
          <p:nvPr/>
        </p:nvSpPr>
        <p:spPr>
          <a:xfrm>
            <a:off x="859536" y="5175504"/>
            <a:ext cx="1188720" cy="320040"/>
          </a:xfrm>
          <a:prstGeom prst="rect">
            <a:avLst/>
          </a:prstGeom>
          <a:noFill/>
          <a:ln/>
        </p:spPr>
        <p:txBody>
          <a:bodyPr wrap="square" lIns="0" tIns="0" rIns="0" bIns="0" rtlCol="0" anchor="ctr"/>
          <a:lstStyle/>
          <a:p>
            <a:pPr indent="0" marL="0">
              <a:buNone/>
            </a:pPr>
            <a:r>
              <a:rPr lang="en-US" sz="1050" dirty="0">
                <a:solidFill>
                  <a:srgbClr val="94A3B8"/>
                </a:solidFill>
                <a:latin typeface="Microsoft JhengHei" pitchFamily="34" charset="0"/>
                <a:ea typeface="Microsoft JhengHei" pitchFamily="34" charset="-122"/>
                <a:cs typeface="Microsoft JhengHei" pitchFamily="34" charset="-120"/>
              </a:rPr>
              <a:t>情資訂閱</a:t>
            </a:r>
            <a:endParaRPr lang="en-US" sz="1050" dirty="0"/>
          </a:p>
        </p:txBody>
      </p:sp>
      <p:sp>
        <p:nvSpPr>
          <p:cNvPr id="9" name="Shape 6"/>
          <p:cNvSpPr/>
          <p:nvPr/>
        </p:nvSpPr>
        <p:spPr>
          <a:xfrm>
            <a:off x="2240280" y="5257800"/>
            <a:ext cx="146304" cy="146304"/>
          </a:xfrm>
          <a:prstGeom prst="ellipse">
            <a:avLst/>
          </a:prstGeom>
          <a:solidFill>
            <a:srgbClr val="2563EB"/>
          </a:solidFill>
          <a:ln/>
        </p:spPr>
      </p:sp>
      <p:sp>
        <p:nvSpPr>
          <p:cNvPr id="10" name="Text 7"/>
          <p:cNvSpPr/>
          <p:nvPr/>
        </p:nvSpPr>
        <p:spPr>
          <a:xfrm>
            <a:off x="2459736" y="5175504"/>
            <a:ext cx="1188720" cy="320040"/>
          </a:xfrm>
          <a:prstGeom prst="rect">
            <a:avLst/>
          </a:prstGeom>
          <a:noFill/>
          <a:ln/>
        </p:spPr>
        <p:txBody>
          <a:bodyPr wrap="square" lIns="0" tIns="0" rIns="0" bIns="0" rtlCol="0" anchor="ctr"/>
          <a:lstStyle/>
          <a:p>
            <a:pPr indent="0" marL="0">
              <a:buNone/>
            </a:pPr>
            <a:r>
              <a:rPr lang="en-US" sz="1050" dirty="0">
                <a:solidFill>
                  <a:srgbClr val="94A3B8"/>
                </a:solidFill>
                <a:latin typeface="Microsoft JhengHei" pitchFamily="34" charset="0"/>
                <a:ea typeface="Microsoft JhengHei" pitchFamily="34" charset="-122"/>
                <a:cs typeface="Microsoft JhengHei" pitchFamily="34" charset="-120"/>
              </a:rPr>
              <a:t>可視監控</a:t>
            </a:r>
            <a:endParaRPr lang="en-US" sz="1050" dirty="0"/>
          </a:p>
        </p:txBody>
      </p:sp>
      <p:sp>
        <p:nvSpPr>
          <p:cNvPr id="11" name="Shape 8"/>
          <p:cNvSpPr/>
          <p:nvPr/>
        </p:nvSpPr>
        <p:spPr>
          <a:xfrm>
            <a:off x="3840480" y="5257800"/>
            <a:ext cx="146304" cy="146304"/>
          </a:xfrm>
          <a:prstGeom prst="ellipse">
            <a:avLst/>
          </a:prstGeom>
          <a:solidFill>
            <a:srgbClr val="7C3AED"/>
          </a:solidFill>
          <a:ln/>
        </p:spPr>
      </p:sp>
      <p:sp>
        <p:nvSpPr>
          <p:cNvPr id="12" name="Text 9"/>
          <p:cNvSpPr/>
          <p:nvPr/>
        </p:nvSpPr>
        <p:spPr>
          <a:xfrm>
            <a:off x="4059936" y="5175504"/>
            <a:ext cx="1188720" cy="320040"/>
          </a:xfrm>
          <a:prstGeom prst="rect">
            <a:avLst/>
          </a:prstGeom>
          <a:noFill/>
          <a:ln/>
        </p:spPr>
        <p:txBody>
          <a:bodyPr wrap="square" lIns="0" tIns="0" rIns="0" bIns="0" rtlCol="0" anchor="ctr"/>
          <a:lstStyle/>
          <a:p>
            <a:pPr indent="0" marL="0">
              <a:buNone/>
            </a:pPr>
            <a:r>
              <a:rPr lang="en-US" sz="1050" dirty="0">
                <a:solidFill>
                  <a:srgbClr val="94A3B8"/>
                </a:solidFill>
                <a:latin typeface="Microsoft JhengHei" pitchFamily="34" charset="0"/>
                <a:ea typeface="Microsoft JhengHei" pitchFamily="34" charset="-122"/>
                <a:cs typeface="Microsoft JhengHei" pitchFamily="34" charset="-120"/>
              </a:rPr>
              <a:t>AI 研判</a:t>
            </a:r>
            <a:endParaRPr lang="en-US" sz="1050" dirty="0"/>
          </a:p>
        </p:txBody>
      </p:sp>
      <p:sp>
        <p:nvSpPr>
          <p:cNvPr id="13" name="Shape 10"/>
          <p:cNvSpPr/>
          <p:nvPr/>
        </p:nvSpPr>
        <p:spPr>
          <a:xfrm>
            <a:off x="5440680" y="5257800"/>
            <a:ext cx="146304" cy="146304"/>
          </a:xfrm>
          <a:prstGeom prst="ellipse">
            <a:avLst/>
          </a:prstGeom>
          <a:solidFill>
            <a:srgbClr val="D97706"/>
          </a:solidFill>
          <a:ln/>
        </p:spPr>
      </p:sp>
      <p:sp>
        <p:nvSpPr>
          <p:cNvPr id="14" name="Text 11"/>
          <p:cNvSpPr/>
          <p:nvPr/>
        </p:nvSpPr>
        <p:spPr>
          <a:xfrm>
            <a:off x="5660136" y="5175504"/>
            <a:ext cx="1188720" cy="320040"/>
          </a:xfrm>
          <a:prstGeom prst="rect">
            <a:avLst/>
          </a:prstGeom>
          <a:noFill/>
          <a:ln/>
        </p:spPr>
        <p:txBody>
          <a:bodyPr wrap="square" lIns="0" tIns="0" rIns="0" bIns="0" rtlCol="0" anchor="ctr"/>
          <a:lstStyle/>
          <a:p>
            <a:pPr indent="0" marL="0">
              <a:buNone/>
            </a:pPr>
            <a:r>
              <a:rPr lang="en-US" sz="1050" dirty="0">
                <a:solidFill>
                  <a:srgbClr val="94A3B8"/>
                </a:solidFill>
                <a:latin typeface="Microsoft JhengHei" pitchFamily="34" charset="0"/>
                <a:ea typeface="Microsoft JhengHei" pitchFamily="34" charset="-122"/>
                <a:cs typeface="Microsoft JhengHei" pitchFamily="34" charset="-120"/>
              </a:rPr>
              <a:t>即時告警</a:t>
            </a:r>
            <a:endParaRPr lang="en-US" sz="1050" dirty="0"/>
          </a:p>
        </p:txBody>
      </p:sp>
      <p:sp>
        <p:nvSpPr>
          <p:cNvPr id="15" name="Text 12"/>
          <p:cNvSpPr/>
          <p:nvPr/>
        </p:nvSpPr>
        <p:spPr>
          <a:xfrm>
            <a:off x="640080" y="6080760"/>
            <a:ext cx="5486400" cy="320040"/>
          </a:xfrm>
          <a:prstGeom prst="rect">
            <a:avLst/>
          </a:prstGeom>
          <a:noFill/>
          <a:ln/>
        </p:spPr>
        <p:txBody>
          <a:bodyPr wrap="square" lIns="0" tIns="0" rIns="0" bIns="0" rtlCol="0" anchor="ctr"/>
          <a:lstStyle/>
          <a:p>
            <a:pPr indent="0" marL="0">
              <a:buNone/>
            </a:pPr>
            <a:r>
              <a:rPr lang="en-US" sz="1100" dirty="0">
                <a:solidFill>
                  <a:srgbClr val="64748B"/>
                </a:solidFill>
                <a:latin typeface="Microsoft JhengHei" pitchFamily="34" charset="0"/>
                <a:ea typeface="Microsoft JhengHei" pitchFamily="34" charset="-122"/>
                <a:cs typeface="Microsoft JhengHei" pitchFamily="34" charset="-120"/>
              </a:rPr>
              <a:t>公司 / 服務介紹簡報</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THE PROBLEM</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別再讓被動記錄，拖慢防禦速度</a:t>
            </a:r>
            <a:endParaRPr lang="en-US" sz="3000" dirty="0"/>
          </a:p>
        </p:txBody>
      </p:sp>
      <p:sp>
        <p:nvSpPr>
          <p:cNvPr id="4" name="Text 2"/>
          <p:cNvSpPr/>
          <p:nvPr/>
        </p:nvSpPr>
        <p:spPr>
          <a:xfrm>
            <a:off x="640080" y="1536192"/>
            <a:ext cx="9875520" cy="457200"/>
          </a:xfrm>
          <a:prstGeom prst="rect">
            <a:avLst/>
          </a:prstGeom>
          <a:noFill/>
          <a:ln/>
        </p:spPr>
        <p:txBody>
          <a:bodyPr wrap="square" lIns="0" tIns="0" rIns="0" bIns="0" rtlCol="0" anchor="ctr"/>
          <a:lstStyle/>
          <a:p>
            <a:pPr indent="0" marL="0">
              <a:buNone/>
            </a:pPr>
            <a:r>
              <a:rPr lang="en-US" sz="1400" dirty="0">
                <a:solidFill>
                  <a:srgbClr val="475569"/>
                </a:solidFill>
                <a:latin typeface="Microsoft JhengHei" pitchFamily="34" charset="0"/>
                <a:ea typeface="Microsoft JhengHei" pitchFamily="34" charset="-122"/>
                <a:cs typeface="Microsoft JhengHei" pitchFamily="34" charset="-120"/>
              </a:rPr>
              <a:t>人工比對、資料分散、告警延遲，是多數企業資安維運的日常，也是攻擊者最容易利用的空隙。</a:t>
            </a:r>
            <a:endParaRPr lang="en-US" sz="1400" dirty="0"/>
          </a:p>
        </p:txBody>
      </p:sp>
      <p:sp>
        <p:nvSpPr>
          <p:cNvPr id="5" name="Shape 3"/>
          <p:cNvSpPr/>
          <p:nvPr/>
        </p:nvSpPr>
        <p:spPr>
          <a:xfrm>
            <a:off x="640080" y="2331720"/>
            <a:ext cx="3346704" cy="3429000"/>
          </a:xfrm>
          <a:prstGeom prst="roundRect">
            <a:avLst>
              <a:gd name="adj" fmla="val 1913"/>
            </a:avLst>
          </a:prstGeom>
          <a:solidFill>
            <a:srgbClr val="E7ECF3"/>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6" name="Shape 4"/>
          <p:cNvSpPr/>
          <p:nvPr/>
        </p:nvSpPr>
        <p:spPr>
          <a:xfrm>
            <a:off x="640080" y="2331720"/>
            <a:ext cx="3346704" cy="548640"/>
          </a:xfrm>
          <a:prstGeom prst="roundRect">
            <a:avLst>
              <a:gd name="adj" fmla="val 11667"/>
            </a:avLst>
          </a:prstGeom>
          <a:solidFill>
            <a:srgbClr val="64748B"/>
          </a:solidFill>
          <a:ln/>
        </p:spPr>
      </p:sp>
      <p:sp>
        <p:nvSpPr>
          <p:cNvPr id="7" name="Shape 5"/>
          <p:cNvSpPr/>
          <p:nvPr/>
        </p:nvSpPr>
        <p:spPr>
          <a:xfrm>
            <a:off x="640080" y="2790749"/>
            <a:ext cx="3346704" cy="89611"/>
          </a:xfrm>
          <a:prstGeom prst="rect">
            <a:avLst/>
          </a:prstGeom>
          <a:solidFill>
            <a:srgbClr val="64748B"/>
          </a:solidFill>
          <a:ln/>
        </p:spPr>
      </p:sp>
      <p:sp>
        <p:nvSpPr>
          <p:cNvPr id="8" name="Text 6"/>
          <p:cNvSpPr/>
          <p:nvPr/>
        </p:nvSpPr>
        <p:spPr>
          <a:xfrm>
            <a:off x="868680" y="2331720"/>
            <a:ext cx="2889504" cy="548640"/>
          </a:xfrm>
          <a:prstGeom prst="rect">
            <a:avLst/>
          </a:prstGeom>
          <a:noFill/>
          <a:ln/>
        </p:spPr>
        <p:txBody>
          <a:bodyPr wrap="square" lIns="0" tIns="0" rIns="0" bIns="0" rtlCol="0" anchor="ctr"/>
          <a:lstStyle/>
          <a:p>
            <a:pPr indent="0" marL="0">
              <a:buNone/>
            </a:pPr>
            <a:r>
              <a:rPr lang="en-US" sz="1450" b="1" dirty="0">
                <a:solidFill>
                  <a:srgbClr val="FFFFFF"/>
                </a:solidFill>
                <a:latin typeface="Microsoft JhengHei" pitchFamily="34" charset="0"/>
                <a:ea typeface="Microsoft JhengHei" pitchFamily="34" charset="-122"/>
                <a:cs typeface="Microsoft JhengHei" pitchFamily="34" charset="-120"/>
              </a:rPr>
              <a:t>人工比對耗時</a:t>
            </a:r>
            <a:endParaRPr lang="en-US" sz="1450" dirty="0"/>
          </a:p>
        </p:txBody>
      </p:sp>
      <p:sp>
        <p:nvSpPr>
          <p:cNvPr id="9" name="Shape 7"/>
          <p:cNvSpPr/>
          <p:nvPr/>
        </p:nvSpPr>
        <p:spPr>
          <a:xfrm>
            <a:off x="868680" y="3081528"/>
            <a:ext cx="566928" cy="566928"/>
          </a:xfrm>
          <a:prstGeom prst="ellipse">
            <a:avLst/>
          </a:prstGeom>
          <a:solidFill>
            <a:srgbClr val="F1F5F9"/>
          </a:solidFill>
          <a:ln/>
        </p:spPr>
      </p:sp>
      <p:pic>
        <p:nvPicPr>
          <p:cNvPr id="10" name="Image 0" descr="/tmp/pptx_build/assets/icons/hourglass-gray.png">    </p:cNvPr>
          <p:cNvPicPr>
            <a:picLocks noChangeAspect="1"/>
          </p:cNvPicPr>
          <p:nvPr/>
        </p:nvPicPr>
        <p:blipFill>
          <a:blip r:embed="rId2"/>
          <a:stretch>
            <a:fillRect/>
          </a:stretch>
        </p:blipFill>
        <p:spPr>
          <a:xfrm>
            <a:off x="970727" y="3183575"/>
            <a:ext cx="362834" cy="362834"/>
          </a:xfrm>
          <a:prstGeom prst="rect">
            <a:avLst/>
          </a:prstGeom>
        </p:spPr>
      </p:pic>
      <p:sp>
        <p:nvSpPr>
          <p:cNvPr id="11" name="Text 8"/>
          <p:cNvSpPr/>
          <p:nvPr/>
        </p:nvSpPr>
        <p:spPr>
          <a:xfrm>
            <a:off x="1600200" y="3081528"/>
            <a:ext cx="2157984" cy="2514600"/>
          </a:xfrm>
          <a:prstGeom prst="rect">
            <a:avLst/>
          </a:prstGeom>
          <a:noFill/>
          <a:ln/>
        </p:spPr>
        <p:txBody>
          <a:bodyPr wrap="square" lIns="0" tIns="0" rIns="0" bIns="0" rtlCol="0" anchor="ctr"/>
          <a:lstStyle/>
          <a:p>
            <a:pPr indent="0" marL="0">
              <a:lnSpc>
                <a:spcPts val="1740"/>
              </a:lnSpc>
              <a:buNone/>
            </a:pPr>
            <a:r>
              <a:rPr lang="en-US" sz="1200" dirty="0">
                <a:solidFill>
                  <a:srgbClr val="475569"/>
                </a:solidFill>
                <a:latin typeface="Microsoft JhengHei" pitchFamily="34" charset="0"/>
                <a:ea typeface="Microsoft JhengHei" pitchFamily="34" charset="-122"/>
                <a:cs typeface="Microsoft JhengHei" pitchFamily="34" charset="-120"/>
              </a:rPr>
              <a:t>資安人員每天手動比對日誌與情資，等到發現異常，攻擊往往已經造成損害。</a:t>
            </a:r>
            <a:endParaRPr lang="en-US" sz="1200" dirty="0"/>
          </a:p>
        </p:txBody>
      </p:sp>
      <p:sp>
        <p:nvSpPr>
          <p:cNvPr id="12" name="Shape 9"/>
          <p:cNvSpPr/>
          <p:nvPr/>
        </p:nvSpPr>
        <p:spPr>
          <a:xfrm>
            <a:off x="4306824" y="2331720"/>
            <a:ext cx="3346704" cy="3429000"/>
          </a:xfrm>
          <a:prstGeom prst="roundRect">
            <a:avLst>
              <a:gd name="adj" fmla="val 1913"/>
            </a:avLst>
          </a:prstGeom>
          <a:solidFill>
            <a:srgbClr val="FDEEC2"/>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3" name="Shape 10"/>
          <p:cNvSpPr/>
          <p:nvPr/>
        </p:nvSpPr>
        <p:spPr>
          <a:xfrm>
            <a:off x="4306824" y="2331720"/>
            <a:ext cx="3346704" cy="548640"/>
          </a:xfrm>
          <a:prstGeom prst="roundRect">
            <a:avLst>
              <a:gd name="adj" fmla="val 11667"/>
            </a:avLst>
          </a:prstGeom>
          <a:solidFill>
            <a:srgbClr val="D97706"/>
          </a:solidFill>
          <a:ln/>
        </p:spPr>
      </p:sp>
      <p:sp>
        <p:nvSpPr>
          <p:cNvPr id="14" name="Shape 11"/>
          <p:cNvSpPr/>
          <p:nvPr/>
        </p:nvSpPr>
        <p:spPr>
          <a:xfrm>
            <a:off x="4306824" y="2790749"/>
            <a:ext cx="3346704" cy="89611"/>
          </a:xfrm>
          <a:prstGeom prst="rect">
            <a:avLst/>
          </a:prstGeom>
          <a:solidFill>
            <a:srgbClr val="D97706"/>
          </a:solidFill>
          <a:ln/>
        </p:spPr>
      </p:sp>
      <p:sp>
        <p:nvSpPr>
          <p:cNvPr id="15" name="Text 12"/>
          <p:cNvSpPr/>
          <p:nvPr/>
        </p:nvSpPr>
        <p:spPr>
          <a:xfrm>
            <a:off x="4535424" y="2331720"/>
            <a:ext cx="2889504" cy="548640"/>
          </a:xfrm>
          <a:prstGeom prst="rect">
            <a:avLst/>
          </a:prstGeom>
          <a:noFill/>
          <a:ln/>
        </p:spPr>
        <p:txBody>
          <a:bodyPr wrap="square" lIns="0" tIns="0" rIns="0" bIns="0" rtlCol="0" anchor="ctr"/>
          <a:lstStyle/>
          <a:p>
            <a:pPr indent="0" marL="0">
              <a:buNone/>
            </a:pPr>
            <a:r>
              <a:rPr lang="en-US" sz="1450" b="1" dirty="0">
                <a:solidFill>
                  <a:srgbClr val="FFFFFF"/>
                </a:solidFill>
                <a:latin typeface="Microsoft JhengHei" pitchFamily="34" charset="0"/>
                <a:ea typeface="Microsoft JhengHei" pitchFamily="34" charset="-122"/>
                <a:cs typeface="Microsoft JhengHei" pitchFamily="34" charset="-120"/>
              </a:rPr>
              <a:t>資料來源分散</a:t>
            </a:r>
            <a:endParaRPr lang="en-US" sz="1450" dirty="0"/>
          </a:p>
        </p:txBody>
      </p:sp>
      <p:sp>
        <p:nvSpPr>
          <p:cNvPr id="16" name="Shape 13"/>
          <p:cNvSpPr/>
          <p:nvPr/>
        </p:nvSpPr>
        <p:spPr>
          <a:xfrm>
            <a:off x="4535424" y="3081528"/>
            <a:ext cx="566928" cy="566928"/>
          </a:xfrm>
          <a:prstGeom prst="ellipse">
            <a:avLst/>
          </a:prstGeom>
          <a:solidFill>
            <a:srgbClr val="FEF3C7"/>
          </a:solidFill>
          <a:ln/>
        </p:spPr>
      </p:sp>
      <p:pic>
        <p:nvPicPr>
          <p:cNvPr id="17" name="Image 1" descr="/tmp/pptx_build/assets/icons/database-amber.png">    </p:cNvPr>
          <p:cNvPicPr>
            <a:picLocks noChangeAspect="1"/>
          </p:cNvPicPr>
          <p:nvPr/>
        </p:nvPicPr>
        <p:blipFill>
          <a:blip r:embed="rId3"/>
          <a:stretch>
            <a:fillRect/>
          </a:stretch>
        </p:blipFill>
        <p:spPr>
          <a:xfrm>
            <a:off x="4637471" y="3183575"/>
            <a:ext cx="362834" cy="362834"/>
          </a:xfrm>
          <a:prstGeom prst="rect">
            <a:avLst/>
          </a:prstGeom>
        </p:spPr>
      </p:pic>
      <p:sp>
        <p:nvSpPr>
          <p:cNvPr id="18" name="Text 14"/>
          <p:cNvSpPr/>
          <p:nvPr/>
        </p:nvSpPr>
        <p:spPr>
          <a:xfrm>
            <a:off x="5266944" y="3081528"/>
            <a:ext cx="2157984" cy="2514600"/>
          </a:xfrm>
          <a:prstGeom prst="rect">
            <a:avLst/>
          </a:prstGeom>
          <a:noFill/>
          <a:ln/>
        </p:spPr>
        <p:txBody>
          <a:bodyPr wrap="square" lIns="0" tIns="0" rIns="0" bIns="0" rtlCol="0" anchor="ctr"/>
          <a:lstStyle/>
          <a:p>
            <a:pPr indent="0" marL="0">
              <a:lnSpc>
                <a:spcPts val="1740"/>
              </a:lnSpc>
              <a:buNone/>
            </a:pPr>
            <a:r>
              <a:rPr lang="en-US" sz="1200" dirty="0">
                <a:solidFill>
                  <a:srgbClr val="475569"/>
                </a:solidFill>
                <a:latin typeface="Microsoft JhengHei" pitchFamily="34" charset="0"/>
                <a:ea typeface="Microsoft JhengHei" pitchFamily="34" charset="-122"/>
                <a:cs typeface="Microsoft JhengHei" pitchFamily="34" charset="-120"/>
              </a:rPr>
              <a:t>防火牆、主機、雲端服務各自留存紀錄，沒有統一視角，難以看見完整攻擊鏈。</a:t>
            </a:r>
            <a:endParaRPr lang="en-US" sz="1200" dirty="0"/>
          </a:p>
        </p:txBody>
      </p:sp>
      <p:sp>
        <p:nvSpPr>
          <p:cNvPr id="19" name="Shape 15"/>
          <p:cNvSpPr/>
          <p:nvPr/>
        </p:nvSpPr>
        <p:spPr>
          <a:xfrm>
            <a:off x="7973568" y="2331720"/>
            <a:ext cx="3346704" cy="3429000"/>
          </a:xfrm>
          <a:prstGeom prst="roundRect">
            <a:avLst>
              <a:gd name="adj" fmla="val 1913"/>
            </a:avLst>
          </a:prstGeom>
          <a:solidFill>
            <a:srgbClr val="FDD9DD"/>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20" name="Shape 16"/>
          <p:cNvSpPr/>
          <p:nvPr/>
        </p:nvSpPr>
        <p:spPr>
          <a:xfrm>
            <a:off x="7973568" y="2331720"/>
            <a:ext cx="3346704" cy="548640"/>
          </a:xfrm>
          <a:prstGeom prst="roundRect">
            <a:avLst>
              <a:gd name="adj" fmla="val 11667"/>
            </a:avLst>
          </a:prstGeom>
          <a:solidFill>
            <a:srgbClr val="E11D48"/>
          </a:solidFill>
          <a:ln/>
        </p:spPr>
      </p:sp>
      <p:sp>
        <p:nvSpPr>
          <p:cNvPr id="21" name="Shape 17"/>
          <p:cNvSpPr/>
          <p:nvPr/>
        </p:nvSpPr>
        <p:spPr>
          <a:xfrm>
            <a:off x="7973568" y="2790749"/>
            <a:ext cx="3346704" cy="89611"/>
          </a:xfrm>
          <a:prstGeom prst="rect">
            <a:avLst/>
          </a:prstGeom>
          <a:solidFill>
            <a:srgbClr val="E11D48"/>
          </a:solidFill>
          <a:ln/>
        </p:spPr>
      </p:sp>
      <p:sp>
        <p:nvSpPr>
          <p:cNvPr id="22" name="Text 18"/>
          <p:cNvSpPr/>
          <p:nvPr/>
        </p:nvSpPr>
        <p:spPr>
          <a:xfrm>
            <a:off x="8202168" y="2331720"/>
            <a:ext cx="2889504" cy="548640"/>
          </a:xfrm>
          <a:prstGeom prst="rect">
            <a:avLst/>
          </a:prstGeom>
          <a:noFill/>
          <a:ln/>
        </p:spPr>
        <p:txBody>
          <a:bodyPr wrap="square" lIns="0" tIns="0" rIns="0" bIns="0" rtlCol="0" anchor="ctr"/>
          <a:lstStyle/>
          <a:p>
            <a:pPr indent="0" marL="0">
              <a:buNone/>
            </a:pPr>
            <a:r>
              <a:rPr lang="en-US" sz="1450" b="1" dirty="0">
                <a:solidFill>
                  <a:srgbClr val="FFFFFF"/>
                </a:solidFill>
                <a:latin typeface="Microsoft JhengHei" pitchFamily="34" charset="0"/>
                <a:ea typeface="Microsoft JhengHei" pitchFamily="34" charset="-122"/>
                <a:cs typeface="Microsoft JhengHei" pitchFamily="34" charset="-120"/>
              </a:rPr>
              <a:t>告警延遲失焦</a:t>
            </a:r>
            <a:endParaRPr lang="en-US" sz="1450" dirty="0"/>
          </a:p>
        </p:txBody>
      </p:sp>
      <p:sp>
        <p:nvSpPr>
          <p:cNvPr id="23" name="Shape 19"/>
          <p:cNvSpPr/>
          <p:nvPr/>
        </p:nvSpPr>
        <p:spPr>
          <a:xfrm>
            <a:off x="8202168" y="3081528"/>
            <a:ext cx="566928" cy="566928"/>
          </a:xfrm>
          <a:prstGeom prst="ellipse">
            <a:avLst/>
          </a:prstGeom>
          <a:solidFill>
            <a:srgbClr val="FFE4E6"/>
          </a:solidFill>
          <a:ln/>
        </p:spPr>
      </p:sp>
      <p:pic>
        <p:nvPicPr>
          <p:cNvPr id="24" name="Image 2" descr="/tmp/pptx_build/assets/icons/warning-rose.png">    </p:cNvPr>
          <p:cNvPicPr>
            <a:picLocks noChangeAspect="1"/>
          </p:cNvPicPr>
          <p:nvPr/>
        </p:nvPicPr>
        <p:blipFill>
          <a:blip r:embed="rId4"/>
          <a:stretch>
            <a:fillRect/>
          </a:stretch>
        </p:blipFill>
        <p:spPr>
          <a:xfrm>
            <a:off x="8304215" y="3183575"/>
            <a:ext cx="362834" cy="362834"/>
          </a:xfrm>
          <a:prstGeom prst="rect">
            <a:avLst/>
          </a:prstGeom>
        </p:spPr>
      </p:pic>
      <p:sp>
        <p:nvSpPr>
          <p:cNvPr id="25" name="Text 20"/>
          <p:cNvSpPr/>
          <p:nvPr/>
        </p:nvSpPr>
        <p:spPr>
          <a:xfrm>
            <a:off x="8933688" y="3081528"/>
            <a:ext cx="2157984" cy="2514600"/>
          </a:xfrm>
          <a:prstGeom prst="rect">
            <a:avLst/>
          </a:prstGeom>
          <a:noFill/>
          <a:ln/>
        </p:spPr>
        <p:txBody>
          <a:bodyPr wrap="square" lIns="0" tIns="0" rIns="0" bIns="0" rtlCol="0" anchor="ctr"/>
          <a:lstStyle/>
          <a:p>
            <a:pPr indent="0" marL="0">
              <a:lnSpc>
                <a:spcPts val="1740"/>
              </a:lnSpc>
              <a:buNone/>
            </a:pPr>
            <a:r>
              <a:rPr lang="en-US" sz="1200" dirty="0">
                <a:solidFill>
                  <a:srgbClr val="475569"/>
                </a:solidFill>
                <a:latin typeface="Microsoft JhengHei" pitchFamily="34" charset="0"/>
                <a:ea typeface="Microsoft JhengHei" pitchFamily="34" charset="-122"/>
                <a:cs typeface="Microsoft JhengHei" pitchFamily="34" charset="-120"/>
              </a:rPr>
              <a:t>海量雜訊事件淹沒真正的高風險警示，重要通知常被延遲處理或直接忽略。</a:t>
            </a:r>
            <a:endParaRPr lang="en-US" sz="1200" dirty="0"/>
          </a:p>
        </p:txBody>
      </p:sp>
      <p:sp>
        <p:nvSpPr>
          <p:cNvPr id="26" name="Text 21"/>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ABOUT US</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我們是誰</a:t>
            </a:r>
            <a:endParaRPr lang="en-US" sz="3000" dirty="0"/>
          </a:p>
        </p:txBody>
      </p:sp>
      <p:sp>
        <p:nvSpPr>
          <p:cNvPr id="4" name="Text 2"/>
          <p:cNvSpPr/>
          <p:nvPr/>
        </p:nvSpPr>
        <p:spPr>
          <a:xfrm>
            <a:off x="640080" y="1600200"/>
            <a:ext cx="6675120" cy="1188720"/>
          </a:xfrm>
          <a:prstGeom prst="rect">
            <a:avLst/>
          </a:prstGeom>
          <a:noFill/>
          <a:ln/>
        </p:spPr>
        <p:txBody>
          <a:bodyPr wrap="square" lIns="0" tIns="0" rIns="0" bIns="0" rtlCol="0" anchor="ctr"/>
          <a:lstStyle/>
          <a:p>
            <a:pPr indent="0" marL="0">
              <a:lnSpc>
                <a:spcPts val="2700"/>
              </a:lnSpc>
              <a:buNone/>
            </a:pPr>
            <a:r>
              <a:rPr lang="en-US" sz="1900" b="1" dirty="0">
                <a:solidFill>
                  <a:srgbClr val="0F172A"/>
                </a:solidFill>
                <a:latin typeface="Microsoft JhengHei" pitchFamily="34" charset="0"/>
                <a:ea typeface="Microsoft JhengHei" pitchFamily="34" charset="-122"/>
                <a:cs typeface="Microsoft JhengHei" pitchFamily="34" charset="-120"/>
              </a:rPr>
              <a:t>我們不做傳統設備販售導向的資安服務，專注為企業建置輕量、自動、有效、好維運的現代化資安防禦體系。</a:t>
            </a:r>
            <a:endParaRPr lang="en-US" sz="1900" dirty="0"/>
          </a:p>
        </p:txBody>
      </p:sp>
      <p:sp>
        <p:nvSpPr>
          <p:cNvPr id="5" name="Text 3"/>
          <p:cNvSpPr/>
          <p:nvPr/>
        </p:nvSpPr>
        <p:spPr>
          <a:xfrm>
            <a:off x="640080" y="2788920"/>
            <a:ext cx="6675120" cy="1737360"/>
          </a:xfrm>
          <a:prstGeom prst="rect">
            <a:avLst/>
          </a:prstGeom>
          <a:noFill/>
          <a:ln/>
        </p:spPr>
        <p:txBody>
          <a:bodyPr wrap="square" lIns="0" tIns="0" rIns="0" bIns="0" rtlCol="0" anchor="ctr"/>
          <a:lstStyle/>
          <a:p>
            <a:pPr indent="0" marL="0">
              <a:lnSpc>
                <a:spcPts val="2100"/>
              </a:lnSpc>
              <a:buNone/>
            </a:pPr>
            <a:r>
              <a:rPr lang="en-US" sz="1300" dirty="0">
                <a:solidFill>
                  <a:srgbClr val="475569"/>
                </a:solidFill>
                <a:latin typeface="Microsoft JhengHei" pitchFamily="34" charset="0"/>
                <a:ea typeface="Microsoft JhengHei" pitchFamily="34" charset="-122"/>
                <a:cs typeface="Microsoft JhengHei" pitchFamily="34" charset="-120"/>
              </a:rPr>
              <a:t>透過國際威脅情資訂閱、客製化監控建置、AI 智能分析、即時告警四大技術模組，以新創團隊的靈活與創新能力，讓中小企業與機關單位，能用更精簡的人力與預算，落地高規格的主動式資安管理，真正實現每一筆資安投入，都能看見具體防禦成效。</a:t>
            </a:r>
            <a:endParaRPr lang="en-US" sz="1300" dirty="0"/>
          </a:p>
        </p:txBody>
      </p:sp>
      <p:sp>
        <p:nvSpPr>
          <p:cNvPr id="6" name="Shape 4"/>
          <p:cNvSpPr/>
          <p:nvPr/>
        </p:nvSpPr>
        <p:spPr>
          <a:xfrm>
            <a:off x="7955280" y="1600200"/>
            <a:ext cx="3593592" cy="4617720"/>
          </a:xfrm>
          <a:prstGeom prst="roundRect">
            <a:avLst>
              <a:gd name="adj" fmla="val 3562"/>
            </a:avLst>
          </a:prstGeom>
          <a:solidFill>
            <a:srgbClr val="0F172A"/>
          </a:solidFill>
          <a:ln/>
          <a:effectLst>
            <a:outerShdw sx="100000" sy="100000" kx="0" ky="0" algn="bl" rotWithShape="0" blurRad="152400" dist="38100" dir="5400000">
              <a:srgbClr val="0F172A">
                <a:alpha val="15000"/>
              </a:srgbClr>
            </a:outerShdw>
          </a:effectLst>
        </p:spPr>
      </p:sp>
      <p:sp>
        <p:nvSpPr>
          <p:cNvPr id="7" name="Shape 5"/>
          <p:cNvSpPr/>
          <p:nvPr/>
        </p:nvSpPr>
        <p:spPr>
          <a:xfrm>
            <a:off x="8275320" y="1920240"/>
            <a:ext cx="548640" cy="548640"/>
          </a:xfrm>
          <a:prstGeom prst="ellipse">
            <a:avLst/>
          </a:prstGeom>
          <a:solidFill>
            <a:srgbClr val="0D9488"/>
          </a:solidFill>
          <a:ln/>
        </p:spPr>
      </p:sp>
      <p:pic>
        <p:nvPicPr>
          <p:cNvPr id="8" name="Image 0" descr="/tmp/pptx_build/assets/icons/feather-white.png">    </p:cNvPr>
          <p:cNvPicPr>
            <a:picLocks noChangeAspect="1"/>
          </p:cNvPicPr>
          <p:nvPr/>
        </p:nvPicPr>
        <p:blipFill>
          <a:blip r:embed="rId2"/>
          <a:stretch>
            <a:fillRect/>
          </a:stretch>
        </p:blipFill>
        <p:spPr>
          <a:xfrm>
            <a:off x="8385048" y="2029968"/>
            <a:ext cx="329184" cy="329184"/>
          </a:xfrm>
          <a:prstGeom prst="rect">
            <a:avLst/>
          </a:prstGeom>
        </p:spPr>
      </p:pic>
      <p:sp>
        <p:nvSpPr>
          <p:cNvPr id="9" name="Text 6"/>
          <p:cNvSpPr/>
          <p:nvPr/>
        </p:nvSpPr>
        <p:spPr>
          <a:xfrm>
            <a:off x="8961120" y="1901952"/>
            <a:ext cx="2313432" cy="320040"/>
          </a:xfrm>
          <a:prstGeom prst="rect">
            <a:avLst/>
          </a:prstGeom>
          <a:noFill/>
          <a:ln/>
        </p:spPr>
        <p:txBody>
          <a:bodyPr wrap="square" lIns="0" tIns="0" rIns="0" bIns="0" rtlCol="0" anchor="ctr"/>
          <a:lstStyle/>
          <a:p>
            <a:pPr indent="0" marL="0">
              <a:buNone/>
            </a:pPr>
            <a:r>
              <a:rPr lang="en-US" sz="1300" b="1" dirty="0">
                <a:solidFill>
                  <a:srgbClr val="5B9CFF"/>
                </a:solidFill>
                <a:latin typeface="Consolas" pitchFamily="34" charset="0"/>
                <a:ea typeface="Consolas" pitchFamily="34" charset="-122"/>
                <a:cs typeface="Consolas" pitchFamily="34" charset="-120"/>
              </a:rPr>
              <a:t>輕量化</a:t>
            </a:r>
            <a:endParaRPr lang="en-US" sz="1300" dirty="0"/>
          </a:p>
        </p:txBody>
      </p:sp>
      <p:sp>
        <p:nvSpPr>
          <p:cNvPr id="10" name="Text 7"/>
          <p:cNvSpPr/>
          <p:nvPr/>
        </p:nvSpPr>
        <p:spPr>
          <a:xfrm>
            <a:off x="8961120" y="2240280"/>
            <a:ext cx="2313432" cy="777240"/>
          </a:xfrm>
          <a:prstGeom prst="rect">
            <a:avLst/>
          </a:prstGeom>
          <a:noFill/>
          <a:ln/>
        </p:spPr>
        <p:txBody>
          <a:bodyPr wrap="square" lIns="0" tIns="0" rIns="0" bIns="0" rtlCol="0" anchor="ctr"/>
          <a:lstStyle/>
          <a:p>
            <a:pPr indent="0" marL="0">
              <a:lnSpc>
                <a:spcPts val="1600"/>
              </a:lnSpc>
              <a:buNone/>
            </a:pPr>
            <a:r>
              <a:rPr lang="en-US" sz="1100" dirty="0">
                <a:solidFill>
                  <a:srgbClr val="C7D0E0"/>
                </a:solidFill>
                <a:latin typeface="Microsoft JhengHei" pitchFamily="34" charset="0"/>
                <a:ea typeface="Microsoft JhengHei" pitchFamily="34" charset="-122"/>
                <a:cs typeface="Microsoft JhengHei" pitchFamily="34" charset="-120"/>
              </a:rPr>
              <a:t>高彈性、高 CP 值的導入模式，不綁死既有資源配置。</a:t>
            </a:r>
            <a:endParaRPr lang="en-US" sz="1100" dirty="0"/>
          </a:p>
        </p:txBody>
      </p:sp>
      <p:sp>
        <p:nvSpPr>
          <p:cNvPr id="11" name="Shape 8"/>
          <p:cNvSpPr/>
          <p:nvPr/>
        </p:nvSpPr>
        <p:spPr>
          <a:xfrm>
            <a:off x="8275320" y="3337560"/>
            <a:ext cx="548640" cy="548640"/>
          </a:xfrm>
          <a:prstGeom prst="ellipse">
            <a:avLst/>
          </a:prstGeom>
          <a:solidFill>
            <a:srgbClr val="2563EB"/>
          </a:solidFill>
          <a:ln/>
        </p:spPr>
      </p:sp>
      <p:pic>
        <p:nvPicPr>
          <p:cNvPr id="12" name="Image 1" descr="/tmp/pptx_build/assets/icons/lightning-white.png">    </p:cNvPr>
          <p:cNvPicPr>
            <a:picLocks noChangeAspect="1"/>
          </p:cNvPicPr>
          <p:nvPr/>
        </p:nvPicPr>
        <p:blipFill>
          <a:blip r:embed="rId3"/>
          <a:stretch>
            <a:fillRect/>
          </a:stretch>
        </p:blipFill>
        <p:spPr>
          <a:xfrm>
            <a:off x="8385048" y="3447288"/>
            <a:ext cx="329184" cy="329184"/>
          </a:xfrm>
          <a:prstGeom prst="rect">
            <a:avLst/>
          </a:prstGeom>
        </p:spPr>
      </p:pic>
      <p:sp>
        <p:nvSpPr>
          <p:cNvPr id="13" name="Text 9"/>
          <p:cNvSpPr/>
          <p:nvPr/>
        </p:nvSpPr>
        <p:spPr>
          <a:xfrm>
            <a:off x="8961120" y="3319272"/>
            <a:ext cx="2313432" cy="320040"/>
          </a:xfrm>
          <a:prstGeom prst="rect">
            <a:avLst/>
          </a:prstGeom>
          <a:noFill/>
          <a:ln/>
        </p:spPr>
        <p:txBody>
          <a:bodyPr wrap="square" lIns="0" tIns="0" rIns="0" bIns="0" rtlCol="0" anchor="ctr"/>
          <a:lstStyle/>
          <a:p>
            <a:pPr indent="0" marL="0">
              <a:buNone/>
            </a:pPr>
            <a:r>
              <a:rPr lang="en-US" sz="1300" b="1" dirty="0">
                <a:solidFill>
                  <a:srgbClr val="5B9CFF"/>
                </a:solidFill>
                <a:latin typeface="Consolas" pitchFamily="34" charset="0"/>
                <a:ea typeface="Consolas" pitchFamily="34" charset="-122"/>
                <a:cs typeface="Consolas" pitchFamily="34" charset="-120"/>
              </a:rPr>
              <a:t>自動化</a:t>
            </a:r>
            <a:endParaRPr lang="en-US" sz="1300" dirty="0"/>
          </a:p>
        </p:txBody>
      </p:sp>
      <p:sp>
        <p:nvSpPr>
          <p:cNvPr id="14" name="Text 10"/>
          <p:cNvSpPr/>
          <p:nvPr/>
        </p:nvSpPr>
        <p:spPr>
          <a:xfrm>
            <a:off x="8961120" y="3657600"/>
            <a:ext cx="2313432" cy="777240"/>
          </a:xfrm>
          <a:prstGeom prst="rect">
            <a:avLst/>
          </a:prstGeom>
          <a:noFill/>
          <a:ln/>
        </p:spPr>
        <p:txBody>
          <a:bodyPr wrap="square" lIns="0" tIns="0" rIns="0" bIns="0" rtlCol="0" anchor="ctr"/>
          <a:lstStyle/>
          <a:p>
            <a:pPr indent="0" marL="0">
              <a:lnSpc>
                <a:spcPts val="1600"/>
              </a:lnSpc>
              <a:buNone/>
            </a:pPr>
            <a:r>
              <a:rPr lang="en-US" sz="1100" dirty="0">
                <a:solidFill>
                  <a:srgbClr val="C7D0E0"/>
                </a:solidFill>
                <a:latin typeface="Microsoft JhengHei" pitchFamily="34" charset="0"/>
                <a:ea typeface="Microsoft JhengHei" pitchFamily="34" charset="-122"/>
                <a:cs typeface="Microsoft JhengHei" pitchFamily="34" charset="-120"/>
              </a:rPr>
              <a:t>AI 分擔人工審核負擔，聚焦真正需要人判斷的威脅。</a:t>
            </a:r>
            <a:endParaRPr lang="en-US" sz="1100" dirty="0"/>
          </a:p>
        </p:txBody>
      </p:sp>
      <p:sp>
        <p:nvSpPr>
          <p:cNvPr id="15" name="Shape 11"/>
          <p:cNvSpPr/>
          <p:nvPr/>
        </p:nvSpPr>
        <p:spPr>
          <a:xfrm>
            <a:off x="8275320" y="4754880"/>
            <a:ext cx="548640" cy="548640"/>
          </a:xfrm>
          <a:prstGeom prst="ellipse">
            <a:avLst/>
          </a:prstGeom>
          <a:solidFill>
            <a:srgbClr val="7C3AED"/>
          </a:solidFill>
          <a:ln/>
        </p:spPr>
      </p:sp>
      <p:pic>
        <p:nvPicPr>
          <p:cNvPr id="16" name="Image 2" descr="/tmp/pptx_build/assets/icons/history-white.png">    </p:cNvPr>
          <p:cNvPicPr>
            <a:picLocks noChangeAspect="1"/>
          </p:cNvPicPr>
          <p:nvPr/>
        </p:nvPicPr>
        <p:blipFill>
          <a:blip r:embed="rId4"/>
          <a:stretch>
            <a:fillRect/>
          </a:stretch>
        </p:blipFill>
        <p:spPr>
          <a:xfrm>
            <a:off x="8385048" y="4864608"/>
            <a:ext cx="329184" cy="329184"/>
          </a:xfrm>
          <a:prstGeom prst="rect">
            <a:avLst/>
          </a:prstGeom>
        </p:spPr>
      </p:pic>
      <p:sp>
        <p:nvSpPr>
          <p:cNvPr id="17" name="Text 12"/>
          <p:cNvSpPr/>
          <p:nvPr/>
        </p:nvSpPr>
        <p:spPr>
          <a:xfrm>
            <a:off x="8961120" y="4736592"/>
            <a:ext cx="2313432" cy="320040"/>
          </a:xfrm>
          <a:prstGeom prst="rect">
            <a:avLst/>
          </a:prstGeom>
          <a:noFill/>
          <a:ln/>
        </p:spPr>
        <p:txBody>
          <a:bodyPr wrap="square" lIns="0" tIns="0" rIns="0" bIns="0" rtlCol="0" anchor="ctr"/>
          <a:lstStyle/>
          <a:p>
            <a:pPr indent="0" marL="0">
              <a:buNone/>
            </a:pPr>
            <a:r>
              <a:rPr lang="en-US" sz="1300" b="1" dirty="0">
                <a:solidFill>
                  <a:srgbClr val="5B9CFF"/>
                </a:solidFill>
                <a:latin typeface="Consolas" pitchFamily="34" charset="0"/>
                <a:ea typeface="Consolas" pitchFamily="34" charset="-122"/>
                <a:cs typeface="Consolas" pitchFamily="34" charset="-120"/>
              </a:rPr>
              <a:t>可追溯</a:t>
            </a:r>
            <a:endParaRPr lang="en-US" sz="1300" dirty="0"/>
          </a:p>
        </p:txBody>
      </p:sp>
      <p:sp>
        <p:nvSpPr>
          <p:cNvPr id="18" name="Text 13"/>
          <p:cNvSpPr/>
          <p:nvPr/>
        </p:nvSpPr>
        <p:spPr>
          <a:xfrm>
            <a:off x="8961120" y="5074920"/>
            <a:ext cx="2313432" cy="777240"/>
          </a:xfrm>
          <a:prstGeom prst="rect">
            <a:avLst/>
          </a:prstGeom>
          <a:noFill/>
          <a:ln/>
        </p:spPr>
        <p:txBody>
          <a:bodyPr wrap="square" lIns="0" tIns="0" rIns="0" bIns="0" rtlCol="0" anchor="ctr"/>
          <a:lstStyle/>
          <a:p>
            <a:pPr indent="0" marL="0">
              <a:lnSpc>
                <a:spcPts val="1600"/>
              </a:lnSpc>
              <a:buNone/>
            </a:pPr>
            <a:r>
              <a:rPr lang="en-US" sz="1100" dirty="0">
                <a:solidFill>
                  <a:srgbClr val="C7D0E0"/>
                </a:solidFill>
                <a:latin typeface="Microsoft JhengHei" pitchFamily="34" charset="0"/>
                <a:ea typeface="Microsoft JhengHei" pitchFamily="34" charset="-122"/>
                <a:cs typeface="Microsoft JhengHei" pitchFamily="34" charset="-120"/>
              </a:rPr>
              <a:t>每一起事件都有編號、時間軸與處置紀錄，全程可覆盤。</a:t>
            </a:r>
            <a:endParaRPr lang="en-US" sz="1100" dirty="0"/>
          </a:p>
        </p:txBody>
      </p:sp>
      <p:sp>
        <p:nvSpPr>
          <p:cNvPr id="19" name="Text 14"/>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TECHNICAL FRAMEWORK</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四大核心技術，構成完整防禦閉環</a:t>
            </a:r>
            <a:endParaRPr lang="en-US" sz="3000" dirty="0"/>
          </a:p>
        </p:txBody>
      </p:sp>
      <p:sp>
        <p:nvSpPr>
          <p:cNvPr id="4" name="Shape 2"/>
          <p:cNvSpPr/>
          <p:nvPr/>
        </p:nvSpPr>
        <p:spPr>
          <a:xfrm>
            <a:off x="640080" y="1874520"/>
            <a:ext cx="2331720" cy="3246120"/>
          </a:xfrm>
          <a:prstGeom prst="roundRect">
            <a:avLst>
              <a:gd name="adj" fmla="val 2745"/>
            </a:avLst>
          </a:prstGeom>
          <a:solidFill>
            <a:srgbClr val="CCF3EC"/>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5" name="Shape 3"/>
          <p:cNvSpPr/>
          <p:nvPr/>
        </p:nvSpPr>
        <p:spPr>
          <a:xfrm>
            <a:off x="640080" y="1874520"/>
            <a:ext cx="2331720" cy="777240"/>
          </a:xfrm>
          <a:prstGeom prst="roundRect">
            <a:avLst>
              <a:gd name="adj" fmla="val 8235"/>
            </a:avLst>
          </a:prstGeom>
          <a:solidFill>
            <a:srgbClr val="0D9488"/>
          </a:solidFill>
          <a:ln/>
        </p:spPr>
      </p:sp>
      <p:sp>
        <p:nvSpPr>
          <p:cNvPr id="6" name="Shape 4"/>
          <p:cNvSpPr/>
          <p:nvPr/>
        </p:nvSpPr>
        <p:spPr>
          <a:xfrm>
            <a:off x="640080" y="2562149"/>
            <a:ext cx="2331720" cy="89611"/>
          </a:xfrm>
          <a:prstGeom prst="rect">
            <a:avLst/>
          </a:prstGeom>
          <a:solidFill>
            <a:srgbClr val="0D9488"/>
          </a:solidFill>
          <a:ln/>
        </p:spPr>
      </p:sp>
      <p:sp>
        <p:nvSpPr>
          <p:cNvPr id="7" name="Text 5"/>
          <p:cNvSpPr/>
          <p:nvPr/>
        </p:nvSpPr>
        <p:spPr>
          <a:xfrm>
            <a:off x="868680" y="1874520"/>
            <a:ext cx="1874520" cy="777240"/>
          </a:xfrm>
          <a:prstGeom prst="rect">
            <a:avLst/>
          </a:prstGeom>
          <a:noFill/>
          <a:ln/>
        </p:spPr>
        <p:txBody>
          <a:bodyPr wrap="square" lIns="0" tIns="0" rIns="0" bIns="0" rtlCol="0" anchor="ctr"/>
          <a:lstStyle/>
          <a:p>
            <a:pPr indent="0" marL="0">
              <a:buNone/>
            </a:pPr>
            <a:r>
              <a:rPr lang="en-US" sz="1350" b="1" dirty="0">
                <a:solidFill>
                  <a:srgbClr val="FFFFFF"/>
                </a:solidFill>
                <a:latin typeface="Microsoft JhengHei" pitchFamily="34" charset="0"/>
                <a:ea typeface="Microsoft JhengHei" pitchFamily="34" charset="-122"/>
                <a:cs typeface="Microsoft JhengHei" pitchFamily="34" charset="-120"/>
              </a:rPr>
              <a:t>國際威脅</a:t>
            </a:r>
            <a:endParaRPr lang="en-US" sz="1350" dirty="0"/>
          </a:p>
          <a:p>
            <a:pPr indent="0" marL="0">
              <a:buNone/>
            </a:pPr>
            <a:r>
              <a:rPr lang="en-US" sz="1350" b="1" dirty="0">
                <a:solidFill>
                  <a:srgbClr val="FFFFFF"/>
                </a:solidFill>
                <a:latin typeface="Microsoft JhengHei" pitchFamily="34" charset="0"/>
                <a:ea typeface="Microsoft JhengHei" pitchFamily="34" charset="-122"/>
                <a:cs typeface="Microsoft JhengHei" pitchFamily="34" charset="-120"/>
              </a:rPr>
              <a:t>情資訂閱</a:t>
            </a:r>
            <a:endParaRPr lang="en-US" sz="1350" dirty="0"/>
          </a:p>
        </p:txBody>
      </p:sp>
      <p:sp>
        <p:nvSpPr>
          <p:cNvPr id="8" name="Text 6"/>
          <p:cNvSpPr/>
          <p:nvPr/>
        </p:nvSpPr>
        <p:spPr>
          <a:xfrm>
            <a:off x="868680" y="2852928"/>
            <a:ext cx="1874520" cy="2103120"/>
          </a:xfrm>
          <a:prstGeom prst="rect">
            <a:avLst/>
          </a:prstGeom>
          <a:noFill/>
          <a:ln/>
        </p:spPr>
        <p:txBody>
          <a:bodyPr wrap="square" lIns="0" tIns="0" rIns="0" bIns="0" rtlCol="0" anchor="t"/>
          <a:lstStyle/>
          <a:p>
            <a:pPr indent="0" marL="0">
              <a:lnSpc>
                <a:spcPts val="1523"/>
              </a:lnSpc>
              <a:buNone/>
            </a:pPr>
            <a:r>
              <a:rPr lang="en-US" sz="1050" dirty="0">
                <a:solidFill>
                  <a:srgbClr val="475569"/>
                </a:solidFill>
                <a:latin typeface="Microsoft JhengHei" pitchFamily="34" charset="0"/>
                <a:ea typeface="Microsoft JhengHei" pitchFamily="34" charset="-122"/>
                <a:cs typeface="Microsoft JhengHei" pitchFamily="34" charset="-120"/>
              </a:rPr>
              <a:t>彙整全球威脅數據，在地化轉譯為防禦規則</a:t>
            </a:r>
            <a:endParaRPr lang="en-US" sz="1050" dirty="0"/>
          </a:p>
        </p:txBody>
      </p:sp>
      <p:pic>
        <p:nvPicPr>
          <p:cNvPr id="9" name="Image 0" descr="/tmp/pptx_build/assets/icons/globe-white.png">    </p:cNvPr>
          <p:cNvPicPr>
            <a:picLocks noChangeAspect="1"/>
          </p:cNvPicPr>
          <p:nvPr/>
        </p:nvPicPr>
        <p:blipFill>
          <a:blip r:embed="rId2"/>
          <a:stretch>
            <a:fillRect/>
          </a:stretch>
        </p:blipFill>
        <p:spPr>
          <a:xfrm>
            <a:off x="2404872" y="1984248"/>
            <a:ext cx="384048" cy="384048"/>
          </a:xfrm>
          <a:prstGeom prst="rect">
            <a:avLst/>
          </a:prstGeom>
        </p:spPr>
      </p:pic>
      <p:sp>
        <p:nvSpPr>
          <p:cNvPr id="10" name="Shape 7"/>
          <p:cNvSpPr/>
          <p:nvPr/>
        </p:nvSpPr>
        <p:spPr>
          <a:xfrm>
            <a:off x="822960" y="4434840"/>
            <a:ext cx="457200" cy="457200"/>
          </a:xfrm>
          <a:prstGeom prst="ellipse">
            <a:avLst/>
          </a:prstGeom>
          <a:solidFill>
            <a:srgbClr val="CCFBF1"/>
          </a:solidFill>
          <a:ln w="15875">
            <a:solidFill>
              <a:srgbClr val="0D9488"/>
            </a:solidFill>
            <a:prstDash val="solid"/>
          </a:ln>
        </p:spPr>
      </p:sp>
      <p:sp>
        <p:nvSpPr>
          <p:cNvPr id="11" name="Text 8"/>
          <p:cNvSpPr/>
          <p:nvPr/>
        </p:nvSpPr>
        <p:spPr>
          <a:xfrm>
            <a:off x="822960" y="4434840"/>
            <a:ext cx="457200" cy="457200"/>
          </a:xfrm>
          <a:prstGeom prst="rect">
            <a:avLst/>
          </a:prstGeom>
          <a:noFill/>
          <a:ln/>
        </p:spPr>
        <p:txBody>
          <a:bodyPr wrap="square" lIns="0" tIns="0" rIns="0" bIns="0" rtlCol="0" anchor="ctr"/>
          <a:lstStyle/>
          <a:p>
            <a:pPr algn="ctr" indent="0" marL="0">
              <a:buNone/>
            </a:pPr>
            <a:r>
              <a:rPr lang="en-US" sz="1400" b="1" dirty="0">
                <a:solidFill>
                  <a:srgbClr val="0D9488"/>
                </a:solidFill>
                <a:latin typeface="Consolas" pitchFamily="34" charset="0"/>
                <a:ea typeface="Consolas" pitchFamily="34" charset="-122"/>
                <a:cs typeface="Consolas" pitchFamily="34" charset="-120"/>
              </a:rPr>
              <a:t>1</a:t>
            </a:r>
            <a:endParaRPr lang="en-US" sz="1400" dirty="0"/>
          </a:p>
        </p:txBody>
      </p:sp>
      <p:sp>
        <p:nvSpPr>
          <p:cNvPr id="12" name="Shape 9"/>
          <p:cNvSpPr/>
          <p:nvPr/>
        </p:nvSpPr>
        <p:spPr>
          <a:xfrm>
            <a:off x="2971800" y="3497580"/>
            <a:ext cx="384048" cy="0"/>
          </a:xfrm>
          <a:prstGeom prst="line">
            <a:avLst/>
          </a:prstGeom>
          <a:noFill/>
          <a:ln w="28575">
            <a:solidFill>
              <a:srgbClr val="94A3B8"/>
            </a:solidFill>
            <a:prstDash val="solid"/>
            <a:tailEnd type="triangle"/>
          </a:ln>
        </p:spPr>
      </p:sp>
      <p:sp>
        <p:nvSpPr>
          <p:cNvPr id="13" name="Shape 10"/>
          <p:cNvSpPr/>
          <p:nvPr/>
        </p:nvSpPr>
        <p:spPr>
          <a:xfrm>
            <a:off x="3355848" y="1874520"/>
            <a:ext cx="2331720" cy="3246120"/>
          </a:xfrm>
          <a:prstGeom prst="roundRect">
            <a:avLst>
              <a:gd name="adj" fmla="val 2745"/>
            </a:avLst>
          </a:prstGeom>
          <a:solidFill>
            <a:srgbClr val="D6E7FE"/>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4" name="Shape 11"/>
          <p:cNvSpPr/>
          <p:nvPr/>
        </p:nvSpPr>
        <p:spPr>
          <a:xfrm>
            <a:off x="3355848" y="1874520"/>
            <a:ext cx="2331720" cy="777240"/>
          </a:xfrm>
          <a:prstGeom prst="roundRect">
            <a:avLst>
              <a:gd name="adj" fmla="val 8235"/>
            </a:avLst>
          </a:prstGeom>
          <a:solidFill>
            <a:srgbClr val="2563EB"/>
          </a:solidFill>
          <a:ln/>
        </p:spPr>
      </p:sp>
      <p:sp>
        <p:nvSpPr>
          <p:cNvPr id="15" name="Shape 12"/>
          <p:cNvSpPr/>
          <p:nvPr/>
        </p:nvSpPr>
        <p:spPr>
          <a:xfrm>
            <a:off x="3355848" y="2562149"/>
            <a:ext cx="2331720" cy="89611"/>
          </a:xfrm>
          <a:prstGeom prst="rect">
            <a:avLst/>
          </a:prstGeom>
          <a:solidFill>
            <a:srgbClr val="2563EB"/>
          </a:solidFill>
          <a:ln/>
        </p:spPr>
      </p:sp>
      <p:sp>
        <p:nvSpPr>
          <p:cNvPr id="16" name="Text 13"/>
          <p:cNvSpPr/>
          <p:nvPr/>
        </p:nvSpPr>
        <p:spPr>
          <a:xfrm>
            <a:off x="3584448" y="1874520"/>
            <a:ext cx="1874520" cy="777240"/>
          </a:xfrm>
          <a:prstGeom prst="rect">
            <a:avLst/>
          </a:prstGeom>
          <a:noFill/>
          <a:ln/>
        </p:spPr>
        <p:txBody>
          <a:bodyPr wrap="square" lIns="0" tIns="0" rIns="0" bIns="0" rtlCol="0" anchor="ctr"/>
          <a:lstStyle/>
          <a:p>
            <a:pPr indent="0" marL="0">
              <a:buNone/>
            </a:pPr>
            <a:r>
              <a:rPr lang="en-US" sz="1350" b="1" dirty="0">
                <a:solidFill>
                  <a:srgbClr val="FFFFFF"/>
                </a:solidFill>
                <a:latin typeface="Microsoft JhengHei" pitchFamily="34" charset="0"/>
                <a:ea typeface="Microsoft JhengHei" pitchFamily="34" charset="-122"/>
                <a:cs typeface="Microsoft JhengHei" pitchFamily="34" charset="-120"/>
              </a:rPr>
              <a:t>全設備日誌</a:t>
            </a:r>
            <a:endParaRPr lang="en-US" sz="1350" dirty="0"/>
          </a:p>
          <a:p>
            <a:pPr indent="0" marL="0">
              <a:buNone/>
            </a:pPr>
            <a:r>
              <a:rPr lang="en-US" sz="1350" b="1" dirty="0">
                <a:solidFill>
                  <a:srgbClr val="FFFFFF"/>
                </a:solidFill>
                <a:latin typeface="Microsoft JhengHei" pitchFamily="34" charset="0"/>
                <a:ea typeface="Microsoft JhengHei" pitchFamily="34" charset="-122"/>
                <a:cs typeface="Microsoft JhengHei" pitchFamily="34" charset="-120"/>
              </a:rPr>
              <a:t>可視監控</a:t>
            </a:r>
            <a:endParaRPr lang="en-US" sz="1350" dirty="0"/>
          </a:p>
        </p:txBody>
      </p:sp>
      <p:sp>
        <p:nvSpPr>
          <p:cNvPr id="17" name="Text 14"/>
          <p:cNvSpPr/>
          <p:nvPr/>
        </p:nvSpPr>
        <p:spPr>
          <a:xfrm>
            <a:off x="3584448" y="2852928"/>
            <a:ext cx="1874520" cy="2103120"/>
          </a:xfrm>
          <a:prstGeom prst="rect">
            <a:avLst/>
          </a:prstGeom>
          <a:noFill/>
          <a:ln/>
        </p:spPr>
        <p:txBody>
          <a:bodyPr wrap="square" lIns="0" tIns="0" rIns="0" bIns="0" rtlCol="0" anchor="t"/>
          <a:lstStyle/>
          <a:p>
            <a:pPr indent="0" marL="0">
              <a:lnSpc>
                <a:spcPts val="1523"/>
              </a:lnSpc>
              <a:buNone/>
            </a:pPr>
            <a:r>
              <a:rPr lang="en-US" sz="1050" dirty="0">
                <a:solidFill>
                  <a:srgbClr val="475569"/>
                </a:solidFill>
                <a:latin typeface="Microsoft JhengHei" pitchFamily="34" charset="0"/>
                <a:ea typeface="Microsoft JhengHei" pitchFamily="34" charset="-122"/>
                <a:cs typeface="Microsoft JhengHei" pitchFamily="34" charset="-120"/>
              </a:rPr>
              <a:t>統一匯整事件與流量，儀表板可視可追溯</a:t>
            </a:r>
            <a:endParaRPr lang="en-US" sz="1050" dirty="0"/>
          </a:p>
        </p:txBody>
      </p:sp>
      <p:pic>
        <p:nvPicPr>
          <p:cNvPr id="18" name="Image 1" descr="/tmp/pptx_build/assets/icons/monitor-white.png">    </p:cNvPr>
          <p:cNvPicPr>
            <a:picLocks noChangeAspect="1"/>
          </p:cNvPicPr>
          <p:nvPr/>
        </p:nvPicPr>
        <p:blipFill>
          <a:blip r:embed="rId3"/>
          <a:stretch>
            <a:fillRect/>
          </a:stretch>
        </p:blipFill>
        <p:spPr>
          <a:xfrm>
            <a:off x="5120640" y="1984248"/>
            <a:ext cx="384048" cy="384048"/>
          </a:xfrm>
          <a:prstGeom prst="rect">
            <a:avLst/>
          </a:prstGeom>
        </p:spPr>
      </p:pic>
      <p:sp>
        <p:nvSpPr>
          <p:cNvPr id="19" name="Shape 15"/>
          <p:cNvSpPr/>
          <p:nvPr/>
        </p:nvSpPr>
        <p:spPr>
          <a:xfrm>
            <a:off x="3538728" y="4434840"/>
            <a:ext cx="457200" cy="457200"/>
          </a:xfrm>
          <a:prstGeom prst="ellipse">
            <a:avLst/>
          </a:prstGeom>
          <a:solidFill>
            <a:srgbClr val="DBEAFE"/>
          </a:solidFill>
          <a:ln w="15875">
            <a:solidFill>
              <a:srgbClr val="2563EB"/>
            </a:solidFill>
            <a:prstDash val="solid"/>
          </a:ln>
        </p:spPr>
      </p:sp>
      <p:sp>
        <p:nvSpPr>
          <p:cNvPr id="20" name="Text 16"/>
          <p:cNvSpPr/>
          <p:nvPr/>
        </p:nvSpPr>
        <p:spPr>
          <a:xfrm>
            <a:off x="3538728" y="4434840"/>
            <a:ext cx="457200" cy="457200"/>
          </a:xfrm>
          <a:prstGeom prst="rect">
            <a:avLst/>
          </a:prstGeom>
          <a:noFill/>
          <a:ln/>
        </p:spPr>
        <p:txBody>
          <a:bodyPr wrap="square" lIns="0" tIns="0" rIns="0" bIns="0" rtlCol="0" anchor="ctr"/>
          <a:lstStyle/>
          <a:p>
            <a:pPr algn="ctr" indent="0" marL="0">
              <a:buNone/>
            </a:pPr>
            <a:r>
              <a:rPr lang="en-US" sz="1400" b="1" dirty="0">
                <a:solidFill>
                  <a:srgbClr val="2563EB"/>
                </a:solidFill>
                <a:latin typeface="Consolas" pitchFamily="34" charset="0"/>
                <a:ea typeface="Consolas" pitchFamily="34" charset="-122"/>
                <a:cs typeface="Consolas" pitchFamily="34" charset="-120"/>
              </a:rPr>
              <a:t>2</a:t>
            </a:r>
            <a:endParaRPr lang="en-US" sz="1400" dirty="0"/>
          </a:p>
        </p:txBody>
      </p:sp>
      <p:sp>
        <p:nvSpPr>
          <p:cNvPr id="21" name="Shape 17"/>
          <p:cNvSpPr/>
          <p:nvPr/>
        </p:nvSpPr>
        <p:spPr>
          <a:xfrm>
            <a:off x="5687568" y="3497580"/>
            <a:ext cx="384048" cy="0"/>
          </a:xfrm>
          <a:prstGeom prst="line">
            <a:avLst/>
          </a:prstGeom>
          <a:noFill/>
          <a:ln w="28575">
            <a:solidFill>
              <a:srgbClr val="94A3B8"/>
            </a:solidFill>
            <a:prstDash val="solid"/>
            <a:tailEnd type="triangle"/>
          </a:ln>
        </p:spPr>
      </p:sp>
      <p:sp>
        <p:nvSpPr>
          <p:cNvPr id="22" name="Shape 18"/>
          <p:cNvSpPr/>
          <p:nvPr/>
        </p:nvSpPr>
        <p:spPr>
          <a:xfrm>
            <a:off x="6071616" y="1874520"/>
            <a:ext cx="2331720" cy="3246120"/>
          </a:xfrm>
          <a:prstGeom prst="roundRect">
            <a:avLst>
              <a:gd name="adj" fmla="val 2745"/>
            </a:avLst>
          </a:prstGeom>
          <a:solidFill>
            <a:srgbClr val="E4DBFC"/>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23" name="Shape 19"/>
          <p:cNvSpPr/>
          <p:nvPr/>
        </p:nvSpPr>
        <p:spPr>
          <a:xfrm>
            <a:off x="6071616" y="1874520"/>
            <a:ext cx="2331720" cy="777240"/>
          </a:xfrm>
          <a:prstGeom prst="roundRect">
            <a:avLst>
              <a:gd name="adj" fmla="val 8235"/>
            </a:avLst>
          </a:prstGeom>
          <a:solidFill>
            <a:srgbClr val="7C3AED"/>
          </a:solidFill>
          <a:ln/>
        </p:spPr>
      </p:sp>
      <p:sp>
        <p:nvSpPr>
          <p:cNvPr id="24" name="Shape 20"/>
          <p:cNvSpPr/>
          <p:nvPr/>
        </p:nvSpPr>
        <p:spPr>
          <a:xfrm>
            <a:off x="6071616" y="2562149"/>
            <a:ext cx="2331720" cy="89611"/>
          </a:xfrm>
          <a:prstGeom prst="rect">
            <a:avLst/>
          </a:prstGeom>
          <a:solidFill>
            <a:srgbClr val="7C3AED"/>
          </a:solidFill>
          <a:ln/>
        </p:spPr>
      </p:sp>
      <p:sp>
        <p:nvSpPr>
          <p:cNvPr id="25" name="Text 21"/>
          <p:cNvSpPr/>
          <p:nvPr/>
        </p:nvSpPr>
        <p:spPr>
          <a:xfrm>
            <a:off x="6300216" y="1874520"/>
            <a:ext cx="1874520" cy="777240"/>
          </a:xfrm>
          <a:prstGeom prst="rect">
            <a:avLst/>
          </a:prstGeom>
          <a:noFill/>
          <a:ln/>
        </p:spPr>
        <p:txBody>
          <a:bodyPr wrap="square" lIns="0" tIns="0" rIns="0" bIns="0" rtlCol="0" anchor="ctr"/>
          <a:lstStyle/>
          <a:p>
            <a:pPr indent="0" marL="0">
              <a:buNone/>
            </a:pPr>
            <a:r>
              <a:rPr lang="en-US" sz="1350" b="1" dirty="0">
                <a:solidFill>
                  <a:srgbClr val="FFFFFF"/>
                </a:solidFill>
                <a:latin typeface="Microsoft JhengHei" pitchFamily="34" charset="0"/>
                <a:ea typeface="Microsoft JhengHei" pitchFamily="34" charset="-122"/>
                <a:cs typeface="Microsoft JhengHei" pitchFamily="34" charset="-120"/>
              </a:rPr>
              <a:t>AI 智能</a:t>
            </a:r>
            <a:endParaRPr lang="en-US" sz="1350" dirty="0"/>
          </a:p>
          <a:p>
            <a:pPr indent="0" marL="0">
              <a:buNone/>
            </a:pPr>
            <a:r>
              <a:rPr lang="en-US" sz="1350" b="1" dirty="0">
                <a:solidFill>
                  <a:srgbClr val="FFFFFF"/>
                </a:solidFill>
                <a:latin typeface="Microsoft JhengHei" pitchFamily="34" charset="0"/>
                <a:ea typeface="Microsoft JhengHei" pitchFamily="34" charset="-122"/>
                <a:cs typeface="Microsoft JhengHei" pitchFamily="34" charset="-120"/>
              </a:rPr>
              <a:t>風險研判</a:t>
            </a:r>
            <a:endParaRPr lang="en-US" sz="1350" dirty="0"/>
          </a:p>
        </p:txBody>
      </p:sp>
      <p:sp>
        <p:nvSpPr>
          <p:cNvPr id="26" name="Text 22"/>
          <p:cNvSpPr/>
          <p:nvPr/>
        </p:nvSpPr>
        <p:spPr>
          <a:xfrm>
            <a:off x="6300216" y="2852928"/>
            <a:ext cx="1874520" cy="2103120"/>
          </a:xfrm>
          <a:prstGeom prst="rect">
            <a:avLst/>
          </a:prstGeom>
          <a:noFill/>
          <a:ln/>
        </p:spPr>
        <p:txBody>
          <a:bodyPr wrap="square" lIns="0" tIns="0" rIns="0" bIns="0" rtlCol="0" anchor="t"/>
          <a:lstStyle/>
          <a:p>
            <a:pPr indent="0" marL="0">
              <a:lnSpc>
                <a:spcPts val="1523"/>
              </a:lnSpc>
              <a:buNone/>
            </a:pPr>
            <a:r>
              <a:rPr lang="en-US" sz="1050" dirty="0">
                <a:solidFill>
                  <a:srgbClr val="475569"/>
                </a:solidFill>
                <a:latin typeface="Microsoft JhengHei" pitchFamily="34" charset="0"/>
                <a:ea typeface="Microsoft JhengHei" pitchFamily="34" charset="-122"/>
                <a:cs typeface="Microsoft JhengHei" pitchFamily="34" charset="-120"/>
              </a:rPr>
              <a:t>雙層交叉比對，自動分級、過濾雜訊</a:t>
            </a:r>
            <a:endParaRPr lang="en-US" sz="1050" dirty="0"/>
          </a:p>
        </p:txBody>
      </p:sp>
      <p:pic>
        <p:nvPicPr>
          <p:cNvPr id="27" name="Image 2" descr="/tmp/pptx_build/assets/icons/cpu-white.png">    </p:cNvPr>
          <p:cNvPicPr>
            <a:picLocks noChangeAspect="1"/>
          </p:cNvPicPr>
          <p:nvPr/>
        </p:nvPicPr>
        <p:blipFill>
          <a:blip r:embed="rId4"/>
          <a:stretch>
            <a:fillRect/>
          </a:stretch>
        </p:blipFill>
        <p:spPr>
          <a:xfrm>
            <a:off x="7836408" y="1984248"/>
            <a:ext cx="384048" cy="384048"/>
          </a:xfrm>
          <a:prstGeom prst="rect">
            <a:avLst/>
          </a:prstGeom>
        </p:spPr>
      </p:pic>
      <p:sp>
        <p:nvSpPr>
          <p:cNvPr id="28" name="Shape 23"/>
          <p:cNvSpPr/>
          <p:nvPr/>
        </p:nvSpPr>
        <p:spPr>
          <a:xfrm>
            <a:off x="6254496" y="4434840"/>
            <a:ext cx="457200" cy="457200"/>
          </a:xfrm>
          <a:prstGeom prst="ellipse">
            <a:avLst/>
          </a:prstGeom>
          <a:solidFill>
            <a:srgbClr val="EDE9FE"/>
          </a:solidFill>
          <a:ln w="15875">
            <a:solidFill>
              <a:srgbClr val="7C3AED"/>
            </a:solidFill>
            <a:prstDash val="solid"/>
          </a:ln>
        </p:spPr>
      </p:sp>
      <p:sp>
        <p:nvSpPr>
          <p:cNvPr id="29" name="Text 24"/>
          <p:cNvSpPr/>
          <p:nvPr/>
        </p:nvSpPr>
        <p:spPr>
          <a:xfrm>
            <a:off x="6254496" y="4434840"/>
            <a:ext cx="457200" cy="457200"/>
          </a:xfrm>
          <a:prstGeom prst="rect">
            <a:avLst/>
          </a:prstGeom>
          <a:noFill/>
          <a:ln/>
        </p:spPr>
        <p:txBody>
          <a:bodyPr wrap="square" lIns="0" tIns="0" rIns="0" bIns="0" rtlCol="0" anchor="ctr"/>
          <a:lstStyle/>
          <a:p>
            <a:pPr algn="ctr" indent="0" marL="0">
              <a:buNone/>
            </a:pPr>
            <a:r>
              <a:rPr lang="en-US" sz="1400" b="1" dirty="0">
                <a:solidFill>
                  <a:srgbClr val="7C3AED"/>
                </a:solidFill>
                <a:latin typeface="Consolas" pitchFamily="34" charset="0"/>
                <a:ea typeface="Consolas" pitchFamily="34" charset="-122"/>
                <a:cs typeface="Consolas" pitchFamily="34" charset="-120"/>
              </a:rPr>
              <a:t>3</a:t>
            </a:r>
            <a:endParaRPr lang="en-US" sz="1400" dirty="0"/>
          </a:p>
        </p:txBody>
      </p:sp>
      <p:sp>
        <p:nvSpPr>
          <p:cNvPr id="30" name="Shape 25"/>
          <p:cNvSpPr/>
          <p:nvPr/>
        </p:nvSpPr>
        <p:spPr>
          <a:xfrm>
            <a:off x="8403336" y="3497580"/>
            <a:ext cx="384048" cy="0"/>
          </a:xfrm>
          <a:prstGeom prst="line">
            <a:avLst/>
          </a:prstGeom>
          <a:noFill/>
          <a:ln w="28575">
            <a:solidFill>
              <a:srgbClr val="94A3B8"/>
            </a:solidFill>
            <a:prstDash val="solid"/>
            <a:tailEnd type="triangle"/>
          </a:ln>
        </p:spPr>
      </p:sp>
      <p:sp>
        <p:nvSpPr>
          <p:cNvPr id="31" name="Shape 26"/>
          <p:cNvSpPr/>
          <p:nvPr/>
        </p:nvSpPr>
        <p:spPr>
          <a:xfrm>
            <a:off x="8787384" y="1874520"/>
            <a:ext cx="2331720" cy="3246120"/>
          </a:xfrm>
          <a:prstGeom prst="roundRect">
            <a:avLst>
              <a:gd name="adj" fmla="val 2745"/>
            </a:avLst>
          </a:prstGeom>
          <a:solidFill>
            <a:srgbClr val="FDEEC2"/>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32" name="Shape 27"/>
          <p:cNvSpPr/>
          <p:nvPr/>
        </p:nvSpPr>
        <p:spPr>
          <a:xfrm>
            <a:off x="8787384" y="1874520"/>
            <a:ext cx="2331720" cy="777240"/>
          </a:xfrm>
          <a:prstGeom prst="roundRect">
            <a:avLst>
              <a:gd name="adj" fmla="val 8235"/>
            </a:avLst>
          </a:prstGeom>
          <a:solidFill>
            <a:srgbClr val="D97706"/>
          </a:solidFill>
          <a:ln/>
        </p:spPr>
      </p:sp>
      <p:sp>
        <p:nvSpPr>
          <p:cNvPr id="33" name="Shape 28"/>
          <p:cNvSpPr/>
          <p:nvPr/>
        </p:nvSpPr>
        <p:spPr>
          <a:xfrm>
            <a:off x="8787384" y="2562149"/>
            <a:ext cx="2331720" cy="89611"/>
          </a:xfrm>
          <a:prstGeom prst="rect">
            <a:avLst/>
          </a:prstGeom>
          <a:solidFill>
            <a:srgbClr val="D97706"/>
          </a:solidFill>
          <a:ln/>
        </p:spPr>
      </p:sp>
      <p:sp>
        <p:nvSpPr>
          <p:cNvPr id="34" name="Text 29"/>
          <p:cNvSpPr/>
          <p:nvPr/>
        </p:nvSpPr>
        <p:spPr>
          <a:xfrm>
            <a:off x="9015984" y="1874520"/>
            <a:ext cx="1874520" cy="777240"/>
          </a:xfrm>
          <a:prstGeom prst="rect">
            <a:avLst/>
          </a:prstGeom>
          <a:noFill/>
          <a:ln/>
        </p:spPr>
        <p:txBody>
          <a:bodyPr wrap="square" lIns="0" tIns="0" rIns="0" bIns="0" rtlCol="0" anchor="ctr"/>
          <a:lstStyle/>
          <a:p>
            <a:pPr indent="0" marL="0">
              <a:buNone/>
            </a:pPr>
            <a:r>
              <a:rPr lang="en-US" sz="1350" b="1" dirty="0">
                <a:solidFill>
                  <a:srgbClr val="FFFFFF"/>
                </a:solidFill>
                <a:latin typeface="Microsoft JhengHei" pitchFamily="34" charset="0"/>
                <a:ea typeface="Microsoft JhengHei" pitchFamily="34" charset="-122"/>
                <a:cs typeface="Microsoft JhengHei" pitchFamily="34" charset="-120"/>
              </a:rPr>
              <a:t>分級即時</a:t>
            </a:r>
            <a:endParaRPr lang="en-US" sz="1350" dirty="0"/>
          </a:p>
          <a:p>
            <a:pPr indent="0" marL="0">
              <a:buNone/>
            </a:pPr>
            <a:r>
              <a:rPr lang="en-US" sz="1350" b="1" dirty="0">
                <a:solidFill>
                  <a:srgbClr val="FFFFFF"/>
                </a:solidFill>
                <a:latin typeface="Microsoft JhengHei" pitchFamily="34" charset="0"/>
                <a:ea typeface="Microsoft JhengHei" pitchFamily="34" charset="-122"/>
                <a:cs typeface="Microsoft JhengHei" pitchFamily="34" charset="-120"/>
              </a:rPr>
              <a:t>告警機器人</a:t>
            </a:r>
            <a:endParaRPr lang="en-US" sz="1350" dirty="0"/>
          </a:p>
        </p:txBody>
      </p:sp>
      <p:sp>
        <p:nvSpPr>
          <p:cNvPr id="35" name="Text 30"/>
          <p:cNvSpPr/>
          <p:nvPr/>
        </p:nvSpPr>
        <p:spPr>
          <a:xfrm>
            <a:off x="9015984" y="2852928"/>
            <a:ext cx="1874520" cy="2103120"/>
          </a:xfrm>
          <a:prstGeom prst="rect">
            <a:avLst/>
          </a:prstGeom>
          <a:noFill/>
          <a:ln/>
        </p:spPr>
        <p:txBody>
          <a:bodyPr wrap="square" lIns="0" tIns="0" rIns="0" bIns="0" rtlCol="0" anchor="t"/>
          <a:lstStyle/>
          <a:p>
            <a:pPr indent="0" marL="0">
              <a:lnSpc>
                <a:spcPts val="1523"/>
              </a:lnSpc>
              <a:buNone/>
            </a:pPr>
            <a:r>
              <a:rPr lang="en-US" sz="1050" dirty="0">
                <a:solidFill>
                  <a:srgbClr val="475569"/>
                </a:solidFill>
                <a:latin typeface="Microsoft JhengHei" pitchFamily="34" charset="0"/>
                <a:ea typeface="Microsoft JhengHei" pitchFamily="34" charset="-122"/>
                <a:cs typeface="Microsoft JhengHei" pitchFamily="34" charset="-120"/>
              </a:rPr>
              <a:t>差異化推送通知，事件處理形成閉環</a:t>
            </a:r>
            <a:endParaRPr lang="en-US" sz="1050" dirty="0"/>
          </a:p>
        </p:txBody>
      </p:sp>
      <p:pic>
        <p:nvPicPr>
          <p:cNvPr id="36" name="Image 3" descr="/tmp/pptx_build/assets/icons/bell-white.png">    </p:cNvPr>
          <p:cNvPicPr>
            <a:picLocks noChangeAspect="1"/>
          </p:cNvPicPr>
          <p:nvPr/>
        </p:nvPicPr>
        <p:blipFill>
          <a:blip r:embed="rId5"/>
          <a:stretch>
            <a:fillRect/>
          </a:stretch>
        </p:blipFill>
        <p:spPr>
          <a:xfrm>
            <a:off x="10552176" y="1984248"/>
            <a:ext cx="384048" cy="384048"/>
          </a:xfrm>
          <a:prstGeom prst="rect">
            <a:avLst/>
          </a:prstGeom>
        </p:spPr>
      </p:pic>
      <p:sp>
        <p:nvSpPr>
          <p:cNvPr id="37" name="Shape 31"/>
          <p:cNvSpPr/>
          <p:nvPr/>
        </p:nvSpPr>
        <p:spPr>
          <a:xfrm>
            <a:off x="8970264" y="4434840"/>
            <a:ext cx="457200" cy="457200"/>
          </a:xfrm>
          <a:prstGeom prst="ellipse">
            <a:avLst/>
          </a:prstGeom>
          <a:solidFill>
            <a:srgbClr val="FEF3C7"/>
          </a:solidFill>
          <a:ln w="15875">
            <a:solidFill>
              <a:srgbClr val="D97706"/>
            </a:solidFill>
            <a:prstDash val="solid"/>
          </a:ln>
        </p:spPr>
      </p:sp>
      <p:sp>
        <p:nvSpPr>
          <p:cNvPr id="38" name="Text 32"/>
          <p:cNvSpPr/>
          <p:nvPr/>
        </p:nvSpPr>
        <p:spPr>
          <a:xfrm>
            <a:off x="8970264" y="4434840"/>
            <a:ext cx="457200" cy="457200"/>
          </a:xfrm>
          <a:prstGeom prst="rect">
            <a:avLst/>
          </a:prstGeom>
          <a:noFill/>
          <a:ln/>
        </p:spPr>
        <p:txBody>
          <a:bodyPr wrap="square" lIns="0" tIns="0" rIns="0" bIns="0" rtlCol="0" anchor="ctr"/>
          <a:lstStyle/>
          <a:p>
            <a:pPr algn="ctr" indent="0" marL="0">
              <a:buNone/>
            </a:pPr>
            <a:r>
              <a:rPr lang="en-US" sz="1400" b="1" dirty="0">
                <a:solidFill>
                  <a:srgbClr val="D97706"/>
                </a:solidFill>
                <a:latin typeface="Consolas" pitchFamily="34" charset="0"/>
                <a:ea typeface="Consolas" pitchFamily="34" charset="-122"/>
                <a:cs typeface="Consolas" pitchFamily="34" charset="-120"/>
              </a:rPr>
              <a:t>4</a:t>
            </a:r>
            <a:endParaRPr lang="en-US" sz="1400" dirty="0"/>
          </a:p>
        </p:txBody>
      </p:sp>
      <p:sp>
        <p:nvSpPr>
          <p:cNvPr id="39" name="Text 33"/>
          <p:cNvSpPr/>
          <p:nvPr/>
        </p:nvSpPr>
        <p:spPr>
          <a:xfrm>
            <a:off x="640080" y="5440680"/>
            <a:ext cx="10515600" cy="365760"/>
          </a:xfrm>
          <a:prstGeom prst="rect">
            <a:avLst/>
          </a:prstGeom>
          <a:noFill/>
          <a:ln/>
        </p:spPr>
        <p:txBody>
          <a:bodyPr wrap="square" lIns="0" tIns="0" rIns="0" bIns="0" rtlCol="0" anchor="ctr"/>
          <a:lstStyle/>
          <a:p>
            <a:pPr indent="0" marL="0">
              <a:buNone/>
            </a:pPr>
            <a:r>
              <a:rPr lang="en-US" sz="1100" i="1" dirty="0">
                <a:solidFill>
                  <a:srgbClr val="64748B"/>
                </a:solidFill>
                <a:latin typeface="Microsoft JhengHei" pitchFamily="34" charset="0"/>
                <a:ea typeface="Microsoft JhengHei" pitchFamily="34" charset="-122"/>
                <a:cs typeface="Microsoft JhengHei" pitchFamily="34" charset="-120"/>
              </a:rPr>
              <a:t>資料流向：情資彙整 → 監控可視 → AI 研判 → 分級告警，形成完整防禦閉環</a:t>
            </a:r>
            <a:endParaRPr lang="en-US" sz="1100" dirty="0"/>
          </a:p>
        </p:txBody>
      </p:sp>
      <p:sp>
        <p:nvSpPr>
          <p:cNvPr id="40" name="Text 34"/>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FLAGSHIP CAPABILITY</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AI 智能風險研判引擎</a:t>
            </a:r>
            <a:endParaRPr lang="en-US" sz="3000" dirty="0"/>
          </a:p>
        </p:txBody>
      </p:sp>
      <p:sp>
        <p:nvSpPr>
          <p:cNvPr id="4" name="Text 2"/>
          <p:cNvSpPr/>
          <p:nvPr/>
        </p:nvSpPr>
        <p:spPr>
          <a:xfrm>
            <a:off x="640080" y="1536192"/>
            <a:ext cx="10058400" cy="594360"/>
          </a:xfrm>
          <a:prstGeom prst="rect">
            <a:avLst/>
          </a:prstGeom>
          <a:noFill/>
          <a:ln/>
        </p:spPr>
        <p:txBody>
          <a:bodyPr wrap="square" lIns="0" tIns="0" rIns="0" bIns="0" rtlCol="0" anchor="ctr"/>
          <a:lstStyle/>
          <a:p>
            <a:pPr indent="0" marL="0">
              <a:lnSpc>
                <a:spcPts val="1700"/>
              </a:lnSpc>
              <a:buNone/>
            </a:pPr>
            <a:r>
              <a:rPr lang="en-US" sz="1250" dirty="0">
                <a:solidFill>
                  <a:srgbClr val="475569"/>
                </a:solidFill>
                <a:latin typeface="Microsoft JhengHei" pitchFamily="34" charset="0"/>
                <a:ea typeface="Microsoft JhengHei" pitchFamily="34" charset="-122"/>
                <a:cs typeface="Microsoft JhengHei" pitchFamily="34" charset="-120"/>
              </a:rPr>
              <a:t>單純的日誌蒐集無法產生防禦價值，我們導入 AI 自動分析研判機制，結合企業內部真實事件紀錄與國際最新威脅情資上下文進行雙層交叉比對，自動化完成風險鑑別。</a:t>
            </a:r>
            <a:endParaRPr lang="en-US" sz="1250" dirty="0"/>
          </a:p>
        </p:txBody>
      </p:sp>
      <p:sp>
        <p:nvSpPr>
          <p:cNvPr id="5" name="Shape 3"/>
          <p:cNvSpPr/>
          <p:nvPr/>
        </p:nvSpPr>
        <p:spPr>
          <a:xfrm>
            <a:off x="640080" y="2286000"/>
            <a:ext cx="5257800" cy="1417320"/>
          </a:xfrm>
          <a:prstGeom prst="roundRect">
            <a:avLst>
              <a:gd name="adj" fmla="val 4516"/>
            </a:avLst>
          </a:prstGeom>
          <a:solidFill>
            <a:srgbClr val="D6E7FE"/>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6" name="Shape 4"/>
          <p:cNvSpPr/>
          <p:nvPr/>
        </p:nvSpPr>
        <p:spPr>
          <a:xfrm>
            <a:off x="896112" y="2542032"/>
            <a:ext cx="502920" cy="502920"/>
          </a:xfrm>
          <a:prstGeom prst="ellipse">
            <a:avLst/>
          </a:prstGeom>
          <a:solidFill>
            <a:srgbClr val="DBEAFE"/>
          </a:solidFill>
          <a:ln/>
        </p:spPr>
      </p:sp>
      <p:pic>
        <p:nvPicPr>
          <p:cNvPr id="7" name="Image 0" descr="/tmp/pptx_build/assets/icons/stack-blue.png">    </p:cNvPr>
          <p:cNvPicPr>
            <a:picLocks noChangeAspect="1"/>
          </p:cNvPicPr>
          <p:nvPr/>
        </p:nvPicPr>
        <p:blipFill>
          <a:blip r:embed="rId2"/>
          <a:stretch>
            <a:fillRect/>
          </a:stretch>
        </p:blipFill>
        <p:spPr>
          <a:xfrm>
            <a:off x="1006754" y="2652674"/>
            <a:ext cx="281635" cy="281635"/>
          </a:xfrm>
          <a:prstGeom prst="rect">
            <a:avLst/>
          </a:prstGeom>
        </p:spPr>
      </p:pic>
      <p:sp>
        <p:nvSpPr>
          <p:cNvPr id="8" name="Text 5"/>
          <p:cNvSpPr/>
          <p:nvPr/>
        </p:nvSpPr>
        <p:spPr>
          <a:xfrm>
            <a:off x="1554480" y="2487168"/>
            <a:ext cx="4069080" cy="320040"/>
          </a:xfrm>
          <a:prstGeom prst="rect">
            <a:avLst/>
          </a:prstGeom>
          <a:noFill/>
          <a:ln/>
        </p:spPr>
        <p:txBody>
          <a:bodyPr wrap="square" lIns="0" tIns="0" rIns="0" bIns="0" rtlCol="0" anchor="ctr"/>
          <a:lstStyle/>
          <a:p>
            <a:pPr indent="0" marL="0">
              <a:buNone/>
            </a:pPr>
            <a:r>
              <a:rPr lang="en-US" sz="1350" b="1" dirty="0">
                <a:solidFill>
                  <a:srgbClr val="0F172A"/>
                </a:solidFill>
                <a:latin typeface="Microsoft JhengHei" pitchFamily="34" charset="0"/>
                <a:ea typeface="Microsoft JhengHei" pitchFamily="34" charset="-122"/>
                <a:cs typeface="Microsoft JhengHei" pitchFamily="34" charset="-120"/>
              </a:rPr>
              <a:t>自動風險分級</a:t>
            </a:r>
            <a:endParaRPr lang="en-US" sz="1350" dirty="0"/>
          </a:p>
        </p:txBody>
      </p:sp>
      <p:sp>
        <p:nvSpPr>
          <p:cNvPr id="9" name="Text 6"/>
          <p:cNvSpPr/>
          <p:nvPr/>
        </p:nvSpPr>
        <p:spPr>
          <a:xfrm>
            <a:off x="1554480" y="2816352"/>
            <a:ext cx="4069080" cy="777240"/>
          </a:xfrm>
          <a:prstGeom prst="rect">
            <a:avLst/>
          </a:prstGeom>
          <a:noFill/>
          <a:ln/>
        </p:spPr>
        <p:txBody>
          <a:bodyPr wrap="square" lIns="0" tIns="0" rIns="0" bIns="0" rtlCol="0" anchor="ctr"/>
          <a:lstStyle/>
          <a:p>
            <a:pPr indent="0" marL="0">
              <a:lnSpc>
                <a:spcPts val="1400"/>
              </a:lnSpc>
              <a:buNone/>
            </a:pPr>
            <a:r>
              <a:rPr lang="en-US" sz="1050" dirty="0">
                <a:solidFill>
                  <a:srgbClr val="475569"/>
                </a:solidFill>
                <a:latin typeface="Microsoft JhengHei" pitchFamily="34" charset="0"/>
                <a:ea typeface="Microsoft JhengHei" pitchFamily="34" charset="-122"/>
                <a:cs typeface="Microsoft JhengHei" pitchFamily="34" charset="-120"/>
              </a:rPr>
              <a:t>依危害程度、攻擊特徵、影響範圍，自動區分高、中、低風險等級。</a:t>
            </a:r>
            <a:endParaRPr lang="en-US" sz="1050" dirty="0"/>
          </a:p>
        </p:txBody>
      </p:sp>
      <p:sp>
        <p:nvSpPr>
          <p:cNvPr id="10" name="Shape 7"/>
          <p:cNvSpPr/>
          <p:nvPr/>
        </p:nvSpPr>
        <p:spPr>
          <a:xfrm>
            <a:off x="6263640" y="2286000"/>
            <a:ext cx="5257800" cy="1417320"/>
          </a:xfrm>
          <a:prstGeom prst="roundRect">
            <a:avLst>
              <a:gd name="adj" fmla="val 4516"/>
            </a:avLst>
          </a:prstGeom>
          <a:solidFill>
            <a:srgbClr val="CCF3EC"/>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1" name="Shape 8"/>
          <p:cNvSpPr/>
          <p:nvPr/>
        </p:nvSpPr>
        <p:spPr>
          <a:xfrm>
            <a:off x="6519672" y="2542032"/>
            <a:ext cx="502920" cy="502920"/>
          </a:xfrm>
          <a:prstGeom prst="ellipse">
            <a:avLst/>
          </a:prstGeom>
          <a:solidFill>
            <a:srgbClr val="CCFBF1"/>
          </a:solidFill>
          <a:ln/>
        </p:spPr>
      </p:sp>
      <p:pic>
        <p:nvPicPr>
          <p:cNvPr id="12" name="Image 1" descr="/tmp/pptx_build/assets/icons/funnel-teal.png">    </p:cNvPr>
          <p:cNvPicPr>
            <a:picLocks noChangeAspect="1"/>
          </p:cNvPicPr>
          <p:nvPr/>
        </p:nvPicPr>
        <p:blipFill>
          <a:blip r:embed="rId3"/>
          <a:stretch>
            <a:fillRect/>
          </a:stretch>
        </p:blipFill>
        <p:spPr>
          <a:xfrm>
            <a:off x="6630314" y="2652674"/>
            <a:ext cx="281635" cy="281635"/>
          </a:xfrm>
          <a:prstGeom prst="rect">
            <a:avLst/>
          </a:prstGeom>
        </p:spPr>
      </p:pic>
      <p:sp>
        <p:nvSpPr>
          <p:cNvPr id="13" name="Text 9"/>
          <p:cNvSpPr/>
          <p:nvPr/>
        </p:nvSpPr>
        <p:spPr>
          <a:xfrm>
            <a:off x="7178040" y="2487168"/>
            <a:ext cx="4069080" cy="320040"/>
          </a:xfrm>
          <a:prstGeom prst="rect">
            <a:avLst/>
          </a:prstGeom>
          <a:noFill/>
          <a:ln/>
        </p:spPr>
        <p:txBody>
          <a:bodyPr wrap="square" lIns="0" tIns="0" rIns="0" bIns="0" rtlCol="0" anchor="ctr"/>
          <a:lstStyle/>
          <a:p>
            <a:pPr indent="0" marL="0">
              <a:buNone/>
            </a:pPr>
            <a:r>
              <a:rPr lang="en-US" sz="1350" b="1" dirty="0">
                <a:solidFill>
                  <a:srgbClr val="0F172A"/>
                </a:solidFill>
                <a:latin typeface="Microsoft JhengHei" pitchFamily="34" charset="0"/>
                <a:ea typeface="Microsoft JhengHei" pitchFamily="34" charset="-122"/>
                <a:cs typeface="Microsoft JhengHei" pitchFamily="34" charset="-120"/>
              </a:rPr>
              <a:t>智慧雜訊過濾</a:t>
            </a:r>
            <a:endParaRPr lang="en-US" sz="1350" dirty="0"/>
          </a:p>
        </p:txBody>
      </p:sp>
      <p:sp>
        <p:nvSpPr>
          <p:cNvPr id="14" name="Text 10"/>
          <p:cNvSpPr/>
          <p:nvPr/>
        </p:nvSpPr>
        <p:spPr>
          <a:xfrm>
            <a:off x="7178040" y="2816352"/>
            <a:ext cx="4069080" cy="777240"/>
          </a:xfrm>
          <a:prstGeom prst="rect">
            <a:avLst/>
          </a:prstGeom>
          <a:noFill/>
          <a:ln/>
        </p:spPr>
        <p:txBody>
          <a:bodyPr wrap="square" lIns="0" tIns="0" rIns="0" bIns="0" rtlCol="0" anchor="ctr"/>
          <a:lstStyle/>
          <a:p>
            <a:pPr indent="0" marL="0">
              <a:lnSpc>
                <a:spcPts val="1400"/>
              </a:lnSpc>
              <a:buNone/>
            </a:pPr>
            <a:r>
              <a:rPr lang="en-US" sz="1050" dirty="0">
                <a:solidFill>
                  <a:srgbClr val="475569"/>
                </a:solidFill>
                <a:latin typeface="Microsoft JhengHei" pitchFamily="34" charset="0"/>
                <a:ea typeface="Microsoft JhengHei" pitchFamily="34" charset="-122"/>
                <a:cs typeface="Microsoft JhengHei" pitchFamily="34" charset="-120"/>
              </a:rPr>
              <a:t>自動篩除重複事件、正常連線、誤報資訊，降低人工審核負擔，聚焦真威脅。</a:t>
            </a:r>
            <a:endParaRPr lang="en-US" sz="1050" dirty="0"/>
          </a:p>
        </p:txBody>
      </p:sp>
      <p:sp>
        <p:nvSpPr>
          <p:cNvPr id="15" name="Shape 11"/>
          <p:cNvSpPr/>
          <p:nvPr/>
        </p:nvSpPr>
        <p:spPr>
          <a:xfrm>
            <a:off x="640080" y="3931920"/>
            <a:ext cx="5257800" cy="1417320"/>
          </a:xfrm>
          <a:prstGeom prst="roundRect">
            <a:avLst>
              <a:gd name="adj" fmla="val 4516"/>
            </a:avLst>
          </a:prstGeom>
          <a:solidFill>
            <a:srgbClr val="E4DBFC"/>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6" name="Shape 12"/>
          <p:cNvSpPr/>
          <p:nvPr/>
        </p:nvSpPr>
        <p:spPr>
          <a:xfrm>
            <a:off x="896112" y="4187952"/>
            <a:ext cx="502920" cy="502920"/>
          </a:xfrm>
          <a:prstGeom prst="ellipse">
            <a:avLst/>
          </a:prstGeom>
          <a:solidFill>
            <a:srgbClr val="EDE9FE"/>
          </a:solidFill>
          <a:ln/>
        </p:spPr>
      </p:sp>
      <p:pic>
        <p:nvPicPr>
          <p:cNvPr id="17" name="Image 2" descr="/tmp/pptx_build/assets/icons/link-purple.png">    </p:cNvPr>
          <p:cNvPicPr>
            <a:picLocks noChangeAspect="1"/>
          </p:cNvPicPr>
          <p:nvPr/>
        </p:nvPicPr>
        <p:blipFill>
          <a:blip r:embed="rId4"/>
          <a:stretch>
            <a:fillRect/>
          </a:stretch>
        </p:blipFill>
        <p:spPr>
          <a:xfrm>
            <a:off x="1006754" y="4298594"/>
            <a:ext cx="281635" cy="281635"/>
          </a:xfrm>
          <a:prstGeom prst="rect">
            <a:avLst/>
          </a:prstGeom>
        </p:spPr>
      </p:pic>
      <p:sp>
        <p:nvSpPr>
          <p:cNvPr id="18" name="Text 13"/>
          <p:cNvSpPr/>
          <p:nvPr/>
        </p:nvSpPr>
        <p:spPr>
          <a:xfrm>
            <a:off x="1554480" y="4133088"/>
            <a:ext cx="4069080" cy="320040"/>
          </a:xfrm>
          <a:prstGeom prst="rect">
            <a:avLst/>
          </a:prstGeom>
          <a:noFill/>
          <a:ln/>
        </p:spPr>
        <p:txBody>
          <a:bodyPr wrap="square" lIns="0" tIns="0" rIns="0" bIns="0" rtlCol="0" anchor="ctr"/>
          <a:lstStyle/>
          <a:p>
            <a:pPr indent="0" marL="0">
              <a:buNone/>
            </a:pPr>
            <a:r>
              <a:rPr lang="en-US" sz="1350" b="1" dirty="0">
                <a:solidFill>
                  <a:srgbClr val="0F172A"/>
                </a:solidFill>
                <a:latin typeface="Microsoft JhengHei" pitchFamily="34" charset="0"/>
                <a:ea typeface="Microsoft JhengHei" pitchFamily="34" charset="-122"/>
                <a:cs typeface="Microsoft JhengHei" pitchFamily="34" charset="-120"/>
              </a:rPr>
              <a:t>威脅上下文比對</a:t>
            </a:r>
            <a:endParaRPr lang="en-US" sz="1350" dirty="0"/>
          </a:p>
        </p:txBody>
      </p:sp>
      <p:sp>
        <p:nvSpPr>
          <p:cNvPr id="19" name="Text 14"/>
          <p:cNvSpPr/>
          <p:nvPr/>
        </p:nvSpPr>
        <p:spPr>
          <a:xfrm>
            <a:off x="1554480" y="4462272"/>
            <a:ext cx="4069080" cy="777240"/>
          </a:xfrm>
          <a:prstGeom prst="rect">
            <a:avLst/>
          </a:prstGeom>
          <a:noFill/>
          <a:ln/>
        </p:spPr>
        <p:txBody>
          <a:bodyPr wrap="square" lIns="0" tIns="0" rIns="0" bIns="0" rtlCol="0" anchor="ctr"/>
          <a:lstStyle/>
          <a:p>
            <a:pPr indent="0" marL="0">
              <a:lnSpc>
                <a:spcPts val="1400"/>
              </a:lnSpc>
              <a:buNone/>
            </a:pPr>
            <a:r>
              <a:rPr lang="en-US" sz="1050" dirty="0">
                <a:solidFill>
                  <a:srgbClr val="475569"/>
                </a:solidFill>
                <a:latin typeface="Microsoft JhengHei" pitchFamily="34" charset="0"/>
                <a:ea typeface="Microsoft JhengHei" pitchFamily="34" charset="-122"/>
                <a:cs typeface="Microsoft JhengHei" pitchFamily="34" charset="-120"/>
              </a:rPr>
              <a:t>對照最新全球攻擊手法、漏洞特徵、入侵鏈路，判斷事件是否屬於已知攻擊行為。</a:t>
            </a:r>
            <a:endParaRPr lang="en-US" sz="1050" dirty="0"/>
          </a:p>
        </p:txBody>
      </p:sp>
      <p:sp>
        <p:nvSpPr>
          <p:cNvPr id="20" name="Shape 15"/>
          <p:cNvSpPr/>
          <p:nvPr/>
        </p:nvSpPr>
        <p:spPr>
          <a:xfrm>
            <a:off x="6263640" y="3931920"/>
            <a:ext cx="5257800" cy="1417320"/>
          </a:xfrm>
          <a:prstGeom prst="roundRect">
            <a:avLst>
              <a:gd name="adj" fmla="val 4516"/>
            </a:avLst>
          </a:prstGeom>
          <a:solidFill>
            <a:srgbClr val="C3F3DD"/>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21" name="Shape 16"/>
          <p:cNvSpPr/>
          <p:nvPr/>
        </p:nvSpPr>
        <p:spPr>
          <a:xfrm>
            <a:off x="6519672" y="4187952"/>
            <a:ext cx="502920" cy="502920"/>
          </a:xfrm>
          <a:prstGeom prst="ellipse">
            <a:avLst/>
          </a:prstGeom>
          <a:solidFill>
            <a:srgbClr val="D1FAE5"/>
          </a:solidFill>
          <a:ln/>
        </p:spPr>
      </p:sp>
      <p:pic>
        <p:nvPicPr>
          <p:cNvPr id="22" name="Image 3" descr="/tmp/pptx_build/assets/icons/check-emerald.png">    </p:cNvPr>
          <p:cNvPicPr>
            <a:picLocks noChangeAspect="1"/>
          </p:cNvPicPr>
          <p:nvPr/>
        </p:nvPicPr>
        <p:blipFill>
          <a:blip r:embed="rId5"/>
          <a:stretch>
            <a:fillRect/>
          </a:stretch>
        </p:blipFill>
        <p:spPr>
          <a:xfrm>
            <a:off x="6630314" y="4298594"/>
            <a:ext cx="281635" cy="281635"/>
          </a:xfrm>
          <a:prstGeom prst="rect">
            <a:avLst/>
          </a:prstGeom>
        </p:spPr>
      </p:pic>
      <p:sp>
        <p:nvSpPr>
          <p:cNvPr id="23" name="Text 17"/>
          <p:cNvSpPr/>
          <p:nvPr/>
        </p:nvSpPr>
        <p:spPr>
          <a:xfrm>
            <a:off x="7178040" y="4133088"/>
            <a:ext cx="4069080" cy="320040"/>
          </a:xfrm>
          <a:prstGeom prst="rect">
            <a:avLst/>
          </a:prstGeom>
          <a:noFill/>
          <a:ln/>
        </p:spPr>
        <p:txBody>
          <a:bodyPr wrap="square" lIns="0" tIns="0" rIns="0" bIns="0" rtlCol="0" anchor="ctr"/>
          <a:lstStyle/>
          <a:p>
            <a:pPr indent="0" marL="0">
              <a:buNone/>
            </a:pPr>
            <a:r>
              <a:rPr lang="en-US" sz="1350" b="1" dirty="0">
                <a:solidFill>
                  <a:srgbClr val="0F172A"/>
                </a:solidFill>
                <a:latin typeface="Microsoft JhengHei" pitchFamily="34" charset="0"/>
                <a:ea typeface="Microsoft JhengHei" pitchFamily="34" charset="-122"/>
                <a:cs typeface="Microsoft JhengHei" pitchFamily="34" charset="-120"/>
              </a:rPr>
              <a:t>自動化處置建議</a:t>
            </a:r>
            <a:endParaRPr lang="en-US" sz="1350" dirty="0"/>
          </a:p>
        </p:txBody>
      </p:sp>
      <p:sp>
        <p:nvSpPr>
          <p:cNvPr id="24" name="Text 18"/>
          <p:cNvSpPr/>
          <p:nvPr/>
        </p:nvSpPr>
        <p:spPr>
          <a:xfrm>
            <a:off x="7178040" y="4462272"/>
            <a:ext cx="4069080" cy="777240"/>
          </a:xfrm>
          <a:prstGeom prst="rect">
            <a:avLst/>
          </a:prstGeom>
          <a:noFill/>
          <a:ln/>
        </p:spPr>
        <p:txBody>
          <a:bodyPr wrap="square" lIns="0" tIns="0" rIns="0" bIns="0" rtlCol="0" anchor="ctr"/>
          <a:lstStyle/>
          <a:p>
            <a:pPr indent="0" marL="0">
              <a:lnSpc>
                <a:spcPts val="1400"/>
              </a:lnSpc>
              <a:buNone/>
            </a:pPr>
            <a:r>
              <a:rPr lang="en-US" sz="1050" dirty="0">
                <a:solidFill>
                  <a:srgbClr val="475569"/>
                </a:solidFill>
                <a:latin typeface="Microsoft JhengHei" pitchFamily="34" charset="0"/>
                <a:ea typeface="Microsoft JhengHei" pitchFamily="34" charset="-122"/>
                <a:cs typeface="Microsoft JhengHei" pitchFamily="34" charset="-120"/>
              </a:rPr>
              <a:t>針對每一起有效風險事件，產生標準化、可立即落地的防禦與修補建議。</a:t>
            </a:r>
            <a:endParaRPr lang="en-US" sz="1050" dirty="0"/>
          </a:p>
        </p:txBody>
      </p:sp>
      <p:sp>
        <p:nvSpPr>
          <p:cNvPr id="25" name="Shape 19"/>
          <p:cNvSpPr/>
          <p:nvPr/>
        </p:nvSpPr>
        <p:spPr>
          <a:xfrm>
            <a:off x="640080" y="5623560"/>
            <a:ext cx="1234440" cy="384048"/>
          </a:xfrm>
          <a:prstGeom prst="roundRect">
            <a:avLst>
              <a:gd name="adj" fmla="val 14286"/>
            </a:avLst>
          </a:prstGeom>
          <a:solidFill>
            <a:srgbClr val="FDE2E2"/>
          </a:solidFill>
          <a:ln/>
        </p:spPr>
      </p:sp>
      <p:sp>
        <p:nvSpPr>
          <p:cNvPr id="26" name="Text 20"/>
          <p:cNvSpPr/>
          <p:nvPr/>
        </p:nvSpPr>
        <p:spPr>
          <a:xfrm>
            <a:off x="640080" y="5623560"/>
            <a:ext cx="1234440" cy="384048"/>
          </a:xfrm>
          <a:prstGeom prst="rect">
            <a:avLst/>
          </a:prstGeom>
          <a:noFill/>
          <a:ln/>
        </p:spPr>
        <p:txBody>
          <a:bodyPr wrap="square" lIns="0" tIns="0" rIns="0" bIns="0" rtlCol="0" anchor="ctr"/>
          <a:lstStyle/>
          <a:p>
            <a:pPr algn="ctr" indent="0" marL="0">
              <a:buNone/>
            </a:pPr>
            <a:r>
              <a:rPr lang="en-US" sz="1050" b="1" dirty="0">
                <a:solidFill>
                  <a:srgbClr val="DC2626"/>
                </a:solidFill>
                <a:latin typeface="Consolas" pitchFamily="34" charset="0"/>
                <a:ea typeface="Consolas" pitchFamily="34" charset="-122"/>
                <a:cs typeface="Consolas" pitchFamily="34" charset="-120"/>
              </a:rPr>
              <a:t>● 高風險</a:t>
            </a:r>
            <a:endParaRPr lang="en-US" sz="1050" dirty="0"/>
          </a:p>
        </p:txBody>
      </p:sp>
      <p:sp>
        <p:nvSpPr>
          <p:cNvPr id="27" name="Shape 21"/>
          <p:cNvSpPr/>
          <p:nvPr/>
        </p:nvSpPr>
        <p:spPr>
          <a:xfrm>
            <a:off x="2057400" y="5623560"/>
            <a:ext cx="1234440" cy="384048"/>
          </a:xfrm>
          <a:prstGeom prst="roundRect">
            <a:avLst>
              <a:gd name="adj" fmla="val 14286"/>
            </a:avLst>
          </a:prstGeom>
          <a:solidFill>
            <a:srgbClr val="FBEBD3"/>
          </a:solidFill>
          <a:ln/>
        </p:spPr>
      </p:sp>
      <p:sp>
        <p:nvSpPr>
          <p:cNvPr id="28" name="Text 22"/>
          <p:cNvSpPr/>
          <p:nvPr/>
        </p:nvSpPr>
        <p:spPr>
          <a:xfrm>
            <a:off x="2057400" y="5623560"/>
            <a:ext cx="1234440" cy="384048"/>
          </a:xfrm>
          <a:prstGeom prst="rect">
            <a:avLst/>
          </a:prstGeom>
          <a:noFill/>
          <a:ln/>
        </p:spPr>
        <p:txBody>
          <a:bodyPr wrap="square" lIns="0" tIns="0" rIns="0" bIns="0" rtlCol="0" anchor="ctr"/>
          <a:lstStyle/>
          <a:p>
            <a:pPr algn="ctr" indent="0" marL="0">
              <a:buNone/>
            </a:pPr>
            <a:r>
              <a:rPr lang="en-US" sz="1050" b="1" dirty="0">
                <a:solidFill>
                  <a:srgbClr val="B45309"/>
                </a:solidFill>
                <a:latin typeface="Consolas" pitchFamily="34" charset="0"/>
                <a:ea typeface="Consolas" pitchFamily="34" charset="-122"/>
                <a:cs typeface="Consolas" pitchFamily="34" charset="-120"/>
              </a:rPr>
              <a:t>● 中風險</a:t>
            </a:r>
            <a:endParaRPr lang="en-US" sz="1050" dirty="0"/>
          </a:p>
        </p:txBody>
      </p:sp>
      <p:sp>
        <p:nvSpPr>
          <p:cNvPr id="29" name="Shape 23"/>
          <p:cNvSpPr/>
          <p:nvPr/>
        </p:nvSpPr>
        <p:spPr>
          <a:xfrm>
            <a:off x="3474720" y="5623560"/>
            <a:ext cx="1234440" cy="384048"/>
          </a:xfrm>
          <a:prstGeom prst="roundRect">
            <a:avLst>
              <a:gd name="adj" fmla="val 14286"/>
            </a:avLst>
          </a:prstGeom>
          <a:solidFill>
            <a:srgbClr val="DCF3E3"/>
          </a:solidFill>
          <a:ln/>
        </p:spPr>
      </p:sp>
      <p:sp>
        <p:nvSpPr>
          <p:cNvPr id="30" name="Text 24"/>
          <p:cNvSpPr/>
          <p:nvPr/>
        </p:nvSpPr>
        <p:spPr>
          <a:xfrm>
            <a:off x="3474720" y="5623560"/>
            <a:ext cx="1234440" cy="384048"/>
          </a:xfrm>
          <a:prstGeom prst="rect">
            <a:avLst/>
          </a:prstGeom>
          <a:noFill/>
          <a:ln/>
        </p:spPr>
        <p:txBody>
          <a:bodyPr wrap="square" lIns="0" tIns="0" rIns="0" bIns="0" rtlCol="0" anchor="ctr"/>
          <a:lstStyle/>
          <a:p>
            <a:pPr algn="ctr" indent="0" marL="0">
              <a:buNone/>
            </a:pPr>
            <a:r>
              <a:rPr lang="en-US" sz="1050" b="1" dirty="0">
                <a:solidFill>
                  <a:srgbClr val="15803D"/>
                </a:solidFill>
                <a:latin typeface="Consolas" pitchFamily="34" charset="0"/>
                <a:ea typeface="Consolas" pitchFamily="34" charset="-122"/>
                <a:cs typeface="Consolas" pitchFamily="34" charset="-120"/>
              </a:rPr>
              <a:t>● 低風險</a:t>
            </a:r>
            <a:endParaRPr lang="en-US" sz="1050" dirty="0"/>
          </a:p>
        </p:txBody>
      </p:sp>
      <p:sp>
        <p:nvSpPr>
          <p:cNvPr id="31" name="Text 25"/>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HOW WE WORK</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從盤點到持續維運</a:t>
            </a:r>
            <a:endParaRPr lang="en-US" sz="3000" dirty="0"/>
          </a:p>
        </p:txBody>
      </p:sp>
      <p:sp>
        <p:nvSpPr>
          <p:cNvPr id="4" name="Shape 2"/>
          <p:cNvSpPr/>
          <p:nvPr/>
        </p:nvSpPr>
        <p:spPr>
          <a:xfrm>
            <a:off x="1234440" y="2674620"/>
            <a:ext cx="219456" cy="0"/>
          </a:xfrm>
          <a:prstGeom prst="line">
            <a:avLst/>
          </a:prstGeom>
          <a:noFill/>
          <a:ln w="25400">
            <a:solidFill>
              <a:srgbClr val="CBD5E1"/>
            </a:solidFill>
            <a:prstDash val="solid"/>
          </a:ln>
        </p:spPr>
      </p:sp>
      <p:sp>
        <p:nvSpPr>
          <p:cNvPr id="5" name="Shape 3"/>
          <p:cNvSpPr/>
          <p:nvPr/>
        </p:nvSpPr>
        <p:spPr>
          <a:xfrm>
            <a:off x="640080" y="2377440"/>
            <a:ext cx="594360" cy="594360"/>
          </a:xfrm>
          <a:prstGeom prst="ellipse">
            <a:avLst/>
          </a:prstGeom>
          <a:solidFill>
            <a:srgbClr val="0D9488"/>
          </a:solidFill>
          <a:ln/>
          <a:effectLst>
            <a:outerShdw sx="100000" sy="100000" kx="0" ky="0" algn="bl" rotWithShape="0" blurRad="127000" dist="25400" dir="5400000">
              <a:srgbClr val="0D9488">
                <a:alpha val="30000"/>
              </a:srgbClr>
            </a:outerShdw>
          </a:effectLst>
        </p:spPr>
      </p:sp>
      <p:sp>
        <p:nvSpPr>
          <p:cNvPr id="6" name="Text 4"/>
          <p:cNvSpPr/>
          <p:nvPr/>
        </p:nvSpPr>
        <p:spPr>
          <a:xfrm>
            <a:off x="640080" y="23774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1</a:t>
            </a:r>
            <a:endParaRPr lang="en-US" sz="2000" dirty="0"/>
          </a:p>
        </p:txBody>
      </p:sp>
      <p:sp>
        <p:nvSpPr>
          <p:cNvPr id="7" name="Text 5"/>
          <p:cNvSpPr/>
          <p:nvPr/>
        </p:nvSpPr>
        <p:spPr>
          <a:xfrm>
            <a:off x="640080" y="3246120"/>
            <a:ext cx="2450592" cy="365760"/>
          </a:xfrm>
          <a:prstGeom prst="rect">
            <a:avLst/>
          </a:prstGeom>
          <a:noFill/>
          <a:ln/>
        </p:spPr>
        <p:txBody>
          <a:bodyPr wrap="square" lIns="0" tIns="0" rIns="0" bIns="0" rtlCol="0" anchor="ctr"/>
          <a:lstStyle/>
          <a:p>
            <a:pPr indent="0" marL="0">
              <a:buNone/>
            </a:pPr>
            <a:r>
              <a:rPr lang="en-US" sz="1450" b="1" dirty="0">
                <a:solidFill>
                  <a:srgbClr val="0F172A"/>
                </a:solidFill>
                <a:latin typeface="Microsoft JhengHei" pitchFamily="34" charset="0"/>
                <a:ea typeface="Microsoft JhengHei" pitchFamily="34" charset="-122"/>
                <a:cs typeface="Microsoft JhengHei" pitchFamily="34" charset="-120"/>
              </a:rPr>
              <a:t>初步盤點</a:t>
            </a:r>
            <a:endParaRPr lang="en-US" sz="1450" dirty="0"/>
          </a:p>
        </p:txBody>
      </p:sp>
      <p:sp>
        <p:nvSpPr>
          <p:cNvPr id="8" name="Text 6"/>
          <p:cNvSpPr/>
          <p:nvPr/>
        </p:nvSpPr>
        <p:spPr>
          <a:xfrm>
            <a:off x="640080" y="3657600"/>
            <a:ext cx="2450592" cy="1463040"/>
          </a:xfrm>
          <a:prstGeom prst="rect">
            <a:avLst/>
          </a:prstGeom>
          <a:noFill/>
          <a:ln/>
        </p:spPr>
        <p:txBody>
          <a:bodyPr wrap="square" lIns="0" tIns="0" rIns="0" bIns="0" rtlCol="0" anchor="ctr"/>
          <a:lstStyle/>
          <a:p>
            <a:pPr indent="0" marL="0">
              <a:lnSpc>
                <a:spcPts val="1550"/>
              </a:lnSpc>
              <a:buNone/>
            </a:pPr>
            <a:r>
              <a:rPr lang="en-US" sz="1100" dirty="0">
                <a:solidFill>
                  <a:srgbClr val="475569"/>
                </a:solidFill>
                <a:latin typeface="Microsoft JhengHei" pitchFamily="34" charset="0"/>
                <a:ea typeface="Microsoft JhengHei" pitchFamily="34" charset="-122"/>
                <a:cs typeface="Microsoft JhengHei" pitchFamily="34" charset="-120"/>
              </a:rPr>
              <a:t>了解現有設備、日誌來源與資安痛點，抓出優先處理的風險缺口。</a:t>
            </a:r>
            <a:endParaRPr lang="en-US" sz="1100" dirty="0"/>
          </a:p>
        </p:txBody>
      </p:sp>
      <p:sp>
        <p:nvSpPr>
          <p:cNvPr id="9" name="Shape 7"/>
          <p:cNvSpPr/>
          <p:nvPr/>
        </p:nvSpPr>
        <p:spPr>
          <a:xfrm>
            <a:off x="3904488" y="2674620"/>
            <a:ext cx="219456" cy="0"/>
          </a:xfrm>
          <a:prstGeom prst="line">
            <a:avLst/>
          </a:prstGeom>
          <a:noFill/>
          <a:ln w="25400">
            <a:solidFill>
              <a:srgbClr val="CBD5E1"/>
            </a:solidFill>
            <a:prstDash val="solid"/>
          </a:ln>
        </p:spPr>
      </p:sp>
      <p:sp>
        <p:nvSpPr>
          <p:cNvPr id="10" name="Shape 8"/>
          <p:cNvSpPr/>
          <p:nvPr/>
        </p:nvSpPr>
        <p:spPr>
          <a:xfrm>
            <a:off x="3310128" y="2377440"/>
            <a:ext cx="594360" cy="594360"/>
          </a:xfrm>
          <a:prstGeom prst="ellipse">
            <a:avLst/>
          </a:prstGeom>
          <a:solidFill>
            <a:srgbClr val="2563EB"/>
          </a:solidFill>
          <a:ln/>
          <a:effectLst>
            <a:outerShdw sx="100000" sy="100000" kx="0" ky="0" algn="bl" rotWithShape="0" blurRad="127000" dist="25400" dir="5400000">
              <a:srgbClr val="2563EB">
                <a:alpha val="30000"/>
              </a:srgbClr>
            </a:outerShdw>
          </a:effectLst>
        </p:spPr>
      </p:sp>
      <p:sp>
        <p:nvSpPr>
          <p:cNvPr id="11" name="Text 9"/>
          <p:cNvSpPr/>
          <p:nvPr/>
        </p:nvSpPr>
        <p:spPr>
          <a:xfrm>
            <a:off x="3310128" y="23774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2</a:t>
            </a:r>
            <a:endParaRPr lang="en-US" sz="2000" dirty="0"/>
          </a:p>
        </p:txBody>
      </p:sp>
      <p:sp>
        <p:nvSpPr>
          <p:cNvPr id="12" name="Text 10"/>
          <p:cNvSpPr/>
          <p:nvPr/>
        </p:nvSpPr>
        <p:spPr>
          <a:xfrm>
            <a:off x="3310128" y="3246120"/>
            <a:ext cx="2450592" cy="365760"/>
          </a:xfrm>
          <a:prstGeom prst="rect">
            <a:avLst/>
          </a:prstGeom>
          <a:noFill/>
          <a:ln/>
        </p:spPr>
        <p:txBody>
          <a:bodyPr wrap="square" lIns="0" tIns="0" rIns="0" bIns="0" rtlCol="0" anchor="ctr"/>
          <a:lstStyle/>
          <a:p>
            <a:pPr indent="0" marL="0">
              <a:buNone/>
            </a:pPr>
            <a:r>
              <a:rPr lang="en-US" sz="1450" b="1" dirty="0">
                <a:solidFill>
                  <a:srgbClr val="0F172A"/>
                </a:solidFill>
                <a:latin typeface="Microsoft JhengHei" pitchFamily="34" charset="0"/>
                <a:ea typeface="Microsoft JhengHei" pitchFamily="34" charset="-122"/>
                <a:cs typeface="Microsoft JhengHei" pitchFamily="34" charset="-120"/>
              </a:rPr>
              <a:t>架構建議</a:t>
            </a:r>
            <a:endParaRPr lang="en-US" sz="1450" dirty="0"/>
          </a:p>
        </p:txBody>
      </p:sp>
      <p:sp>
        <p:nvSpPr>
          <p:cNvPr id="13" name="Text 11"/>
          <p:cNvSpPr/>
          <p:nvPr/>
        </p:nvSpPr>
        <p:spPr>
          <a:xfrm>
            <a:off x="3310128" y="3657600"/>
            <a:ext cx="2450592" cy="1463040"/>
          </a:xfrm>
          <a:prstGeom prst="rect">
            <a:avLst/>
          </a:prstGeom>
          <a:noFill/>
          <a:ln/>
        </p:spPr>
        <p:txBody>
          <a:bodyPr wrap="square" lIns="0" tIns="0" rIns="0" bIns="0" rtlCol="0" anchor="ctr"/>
          <a:lstStyle/>
          <a:p>
            <a:pPr indent="0" marL="0">
              <a:lnSpc>
                <a:spcPts val="1550"/>
              </a:lnSpc>
              <a:buNone/>
            </a:pPr>
            <a:r>
              <a:rPr lang="en-US" sz="1100" dirty="0">
                <a:solidFill>
                  <a:srgbClr val="475569"/>
                </a:solidFill>
                <a:latin typeface="Microsoft JhengHei" pitchFamily="34" charset="0"/>
                <a:ea typeface="Microsoft JhengHei" pitchFamily="34" charset="-122"/>
                <a:cs typeface="Microsoft JhengHei" pitchFamily="34" charset="-120"/>
              </a:rPr>
              <a:t>依規模與預算提出對應的情資訂閱與監控導入方案。</a:t>
            </a:r>
            <a:endParaRPr lang="en-US" sz="1100" dirty="0"/>
          </a:p>
        </p:txBody>
      </p:sp>
      <p:sp>
        <p:nvSpPr>
          <p:cNvPr id="14" name="Shape 12"/>
          <p:cNvSpPr/>
          <p:nvPr/>
        </p:nvSpPr>
        <p:spPr>
          <a:xfrm>
            <a:off x="6574536" y="2674620"/>
            <a:ext cx="219456" cy="0"/>
          </a:xfrm>
          <a:prstGeom prst="line">
            <a:avLst/>
          </a:prstGeom>
          <a:noFill/>
          <a:ln w="25400">
            <a:solidFill>
              <a:srgbClr val="CBD5E1"/>
            </a:solidFill>
            <a:prstDash val="solid"/>
          </a:ln>
        </p:spPr>
      </p:sp>
      <p:sp>
        <p:nvSpPr>
          <p:cNvPr id="15" name="Shape 13"/>
          <p:cNvSpPr/>
          <p:nvPr/>
        </p:nvSpPr>
        <p:spPr>
          <a:xfrm>
            <a:off x="5980176" y="2377440"/>
            <a:ext cx="594360" cy="594360"/>
          </a:xfrm>
          <a:prstGeom prst="ellipse">
            <a:avLst/>
          </a:prstGeom>
          <a:solidFill>
            <a:srgbClr val="7C3AED"/>
          </a:solidFill>
          <a:ln/>
          <a:effectLst>
            <a:outerShdw sx="100000" sy="100000" kx="0" ky="0" algn="bl" rotWithShape="0" blurRad="127000" dist="25400" dir="5400000">
              <a:srgbClr val="7C3AED">
                <a:alpha val="30000"/>
              </a:srgbClr>
            </a:outerShdw>
          </a:effectLst>
        </p:spPr>
      </p:sp>
      <p:sp>
        <p:nvSpPr>
          <p:cNvPr id="16" name="Text 14"/>
          <p:cNvSpPr/>
          <p:nvPr/>
        </p:nvSpPr>
        <p:spPr>
          <a:xfrm>
            <a:off x="5980176" y="23774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3</a:t>
            </a:r>
            <a:endParaRPr lang="en-US" sz="2000" dirty="0"/>
          </a:p>
        </p:txBody>
      </p:sp>
      <p:sp>
        <p:nvSpPr>
          <p:cNvPr id="17" name="Text 15"/>
          <p:cNvSpPr/>
          <p:nvPr/>
        </p:nvSpPr>
        <p:spPr>
          <a:xfrm>
            <a:off x="5980176" y="3246120"/>
            <a:ext cx="2450592" cy="365760"/>
          </a:xfrm>
          <a:prstGeom prst="rect">
            <a:avLst/>
          </a:prstGeom>
          <a:noFill/>
          <a:ln/>
        </p:spPr>
        <p:txBody>
          <a:bodyPr wrap="square" lIns="0" tIns="0" rIns="0" bIns="0" rtlCol="0" anchor="ctr"/>
          <a:lstStyle/>
          <a:p>
            <a:pPr indent="0" marL="0">
              <a:buNone/>
            </a:pPr>
            <a:r>
              <a:rPr lang="en-US" sz="1450" b="1" dirty="0">
                <a:solidFill>
                  <a:srgbClr val="0F172A"/>
                </a:solidFill>
                <a:latin typeface="Microsoft JhengHei" pitchFamily="34" charset="0"/>
                <a:ea typeface="Microsoft JhengHei" pitchFamily="34" charset="-122"/>
                <a:cs typeface="Microsoft JhengHei" pitchFamily="34" charset="-120"/>
              </a:rPr>
              <a:t>分階段建置</a:t>
            </a:r>
            <a:endParaRPr lang="en-US" sz="1450" dirty="0"/>
          </a:p>
        </p:txBody>
      </p:sp>
      <p:sp>
        <p:nvSpPr>
          <p:cNvPr id="18" name="Text 16"/>
          <p:cNvSpPr/>
          <p:nvPr/>
        </p:nvSpPr>
        <p:spPr>
          <a:xfrm>
            <a:off x="5980176" y="3657600"/>
            <a:ext cx="2450592" cy="1463040"/>
          </a:xfrm>
          <a:prstGeom prst="rect">
            <a:avLst/>
          </a:prstGeom>
          <a:noFill/>
          <a:ln/>
        </p:spPr>
        <p:txBody>
          <a:bodyPr wrap="square" lIns="0" tIns="0" rIns="0" bIns="0" rtlCol="0" anchor="ctr"/>
          <a:lstStyle/>
          <a:p>
            <a:pPr indent="0" marL="0">
              <a:lnSpc>
                <a:spcPts val="1550"/>
              </a:lnSpc>
              <a:buNone/>
            </a:pPr>
            <a:r>
              <a:rPr lang="en-US" sz="1100" dirty="0">
                <a:solidFill>
                  <a:srgbClr val="475569"/>
                </a:solidFill>
                <a:latin typeface="Microsoft JhengHei" pitchFamily="34" charset="0"/>
                <a:ea typeface="Microsoft JhengHei" pitchFamily="34" charset="-122"/>
                <a:cs typeface="Microsoft JhengHei" pitchFamily="34" charset="-120"/>
              </a:rPr>
              <a:t>依模組逐步導入監控平台、AI 分析與告警機制，不打斷既有維運。</a:t>
            </a:r>
            <a:endParaRPr lang="en-US" sz="1100" dirty="0"/>
          </a:p>
        </p:txBody>
      </p:sp>
      <p:sp>
        <p:nvSpPr>
          <p:cNvPr id="19" name="Shape 17"/>
          <p:cNvSpPr/>
          <p:nvPr/>
        </p:nvSpPr>
        <p:spPr>
          <a:xfrm>
            <a:off x="8650224" y="2377440"/>
            <a:ext cx="594360" cy="594360"/>
          </a:xfrm>
          <a:prstGeom prst="ellipse">
            <a:avLst/>
          </a:prstGeom>
          <a:solidFill>
            <a:srgbClr val="047857"/>
          </a:solidFill>
          <a:ln/>
          <a:effectLst>
            <a:outerShdw sx="100000" sy="100000" kx="0" ky="0" algn="bl" rotWithShape="0" blurRad="127000" dist="25400" dir="5400000">
              <a:srgbClr val="047857">
                <a:alpha val="30000"/>
              </a:srgbClr>
            </a:outerShdw>
          </a:effectLst>
        </p:spPr>
      </p:sp>
      <p:sp>
        <p:nvSpPr>
          <p:cNvPr id="20" name="Text 18"/>
          <p:cNvSpPr/>
          <p:nvPr/>
        </p:nvSpPr>
        <p:spPr>
          <a:xfrm>
            <a:off x="8650224" y="23774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4</a:t>
            </a:r>
            <a:endParaRPr lang="en-US" sz="2000" dirty="0"/>
          </a:p>
        </p:txBody>
      </p:sp>
      <p:sp>
        <p:nvSpPr>
          <p:cNvPr id="21" name="Text 19"/>
          <p:cNvSpPr/>
          <p:nvPr/>
        </p:nvSpPr>
        <p:spPr>
          <a:xfrm>
            <a:off x="8650224" y="3246120"/>
            <a:ext cx="2450592" cy="365760"/>
          </a:xfrm>
          <a:prstGeom prst="rect">
            <a:avLst/>
          </a:prstGeom>
          <a:noFill/>
          <a:ln/>
        </p:spPr>
        <p:txBody>
          <a:bodyPr wrap="square" lIns="0" tIns="0" rIns="0" bIns="0" rtlCol="0" anchor="ctr"/>
          <a:lstStyle/>
          <a:p>
            <a:pPr indent="0" marL="0">
              <a:buNone/>
            </a:pPr>
            <a:r>
              <a:rPr lang="en-US" sz="1450" b="1" dirty="0">
                <a:solidFill>
                  <a:srgbClr val="0F172A"/>
                </a:solidFill>
                <a:latin typeface="Microsoft JhengHei" pitchFamily="34" charset="0"/>
                <a:ea typeface="Microsoft JhengHei" pitchFamily="34" charset="-122"/>
                <a:cs typeface="Microsoft JhengHei" pitchFamily="34" charset="-120"/>
              </a:rPr>
              <a:t>持續維運</a:t>
            </a:r>
            <a:endParaRPr lang="en-US" sz="1450" dirty="0"/>
          </a:p>
        </p:txBody>
      </p:sp>
      <p:sp>
        <p:nvSpPr>
          <p:cNvPr id="22" name="Text 20"/>
          <p:cNvSpPr/>
          <p:nvPr/>
        </p:nvSpPr>
        <p:spPr>
          <a:xfrm>
            <a:off x="8650224" y="3657600"/>
            <a:ext cx="2450592" cy="1463040"/>
          </a:xfrm>
          <a:prstGeom prst="rect">
            <a:avLst/>
          </a:prstGeom>
          <a:noFill/>
          <a:ln/>
        </p:spPr>
        <p:txBody>
          <a:bodyPr wrap="square" lIns="0" tIns="0" rIns="0" bIns="0" rtlCol="0" anchor="ctr"/>
          <a:lstStyle/>
          <a:p>
            <a:pPr indent="0" marL="0">
              <a:lnSpc>
                <a:spcPts val="1550"/>
              </a:lnSpc>
              <a:buNone/>
            </a:pPr>
            <a:r>
              <a:rPr lang="en-US" sz="1100" dirty="0">
                <a:solidFill>
                  <a:srgbClr val="475569"/>
                </a:solidFill>
                <a:latin typeface="Microsoft JhengHei" pitchFamily="34" charset="0"/>
                <a:ea typeface="Microsoft JhengHei" pitchFamily="34" charset="-122"/>
                <a:cs typeface="Microsoft JhengHei" pitchFamily="34" charset="-120"/>
              </a:rPr>
              <a:t>事件分級處理、定期檢視告警規則，隨威脅趨勢調整防禦策略。</a:t>
            </a:r>
            <a:endParaRPr lang="en-US" sz="1100" dirty="0"/>
          </a:p>
        </p:txBody>
      </p:sp>
      <p:sp>
        <p:nvSpPr>
          <p:cNvPr id="23" name="Text 21"/>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WHO WE SERVE</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適合對象</a:t>
            </a:r>
            <a:endParaRPr lang="en-US" sz="3000" dirty="0"/>
          </a:p>
        </p:txBody>
      </p:sp>
      <p:sp>
        <p:nvSpPr>
          <p:cNvPr id="4" name="Shape 2"/>
          <p:cNvSpPr/>
          <p:nvPr/>
        </p:nvSpPr>
        <p:spPr>
          <a:xfrm>
            <a:off x="640080" y="2103120"/>
            <a:ext cx="3346704" cy="3200400"/>
          </a:xfrm>
          <a:prstGeom prst="roundRect">
            <a:avLst>
              <a:gd name="adj" fmla="val 2000"/>
            </a:avLst>
          </a:prstGeom>
          <a:solidFill>
            <a:srgbClr val="D6E7FE"/>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5" name="Shape 3"/>
          <p:cNvSpPr/>
          <p:nvPr/>
        </p:nvSpPr>
        <p:spPr>
          <a:xfrm>
            <a:off x="640080" y="2103120"/>
            <a:ext cx="3346704" cy="548640"/>
          </a:xfrm>
          <a:prstGeom prst="roundRect">
            <a:avLst>
              <a:gd name="adj" fmla="val 11667"/>
            </a:avLst>
          </a:prstGeom>
          <a:solidFill>
            <a:srgbClr val="2563EB"/>
          </a:solidFill>
          <a:ln/>
        </p:spPr>
      </p:sp>
      <p:sp>
        <p:nvSpPr>
          <p:cNvPr id="6" name="Shape 4"/>
          <p:cNvSpPr/>
          <p:nvPr/>
        </p:nvSpPr>
        <p:spPr>
          <a:xfrm>
            <a:off x="640080" y="2562149"/>
            <a:ext cx="3346704" cy="89611"/>
          </a:xfrm>
          <a:prstGeom prst="rect">
            <a:avLst/>
          </a:prstGeom>
          <a:solidFill>
            <a:srgbClr val="2563EB"/>
          </a:solidFill>
          <a:ln/>
        </p:spPr>
      </p:sp>
      <p:sp>
        <p:nvSpPr>
          <p:cNvPr id="7" name="Text 5"/>
          <p:cNvSpPr/>
          <p:nvPr/>
        </p:nvSpPr>
        <p:spPr>
          <a:xfrm>
            <a:off x="868680" y="2103120"/>
            <a:ext cx="2889504" cy="548640"/>
          </a:xfrm>
          <a:prstGeom prst="rect">
            <a:avLst/>
          </a:prstGeom>
          <a:noFill/>
          <a:ln/>
        </p:spPr>
        <p:txBody>
          <a:bodyPr wrap="square" lIns="0" tIns="0" rIns="0" bIns="0" rtlCol="0" anchor="ctr"/>
          <a:lstStyle/>
          <a:p>
            <a:pP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中小企業</a:t>
            </a:r>
            <a:endParaRPr lang="en-US" sz="1500" dirty="0"/>
          </a:p>
        </p:txBody>
      </p:sp>
      <p:sp>
        <p:nvSpPr>
          <p:cNvPr id="8" name="Shape 6"/>
          <p:cNvSpPr/>
          <p:nvPr/>
        </p:nvSpPr>
        <p:spPr>
          <a:xfrm>
            <a:off x="868680" y="2852928"/>
            <a:ext cx="566928" cy="566928"/>
          </a:xfrm>
          <a:prstGeom prst="ellipse">
            <a:avLst/>
          </a:prstGeom>
          <a:solidFill>
            <a:srgbClr val="DBEAFE"/>
          </a:solidFill>
          <a:ln/>
        </p:spPr>
      </p:sp>
      <p:pic>
        <p:nvPicPr>
          <p:cNvPr id="9" name="Image 0" descr="/tmp/pptx_build/assets/icons/briefcase-blue.png">    </p:cNvPr>
          <p:cNvPicPr>
            <a:picLocks noChangeAspect="1"/>
          </p:cNvPicPr>
          <p:nvPr/>
        </p:nvPicPr>
        <p:blipFill>
          <a:blip r:embed="rId2"/>
          <a:stretch>
            <a:fillRect/>
          </a:stretch>
        </p:blipFill>
        <p:spPr>
          <a:xfrm>
            <a:off x="970727" y="2954975"/>
            <a:ext cx="362834" cy="362834"/>
          </a:xfrm>
          <a:prstGeom prst="rect">
            <a:avLst/>
          </a:prstGeom>
        </p:spPr>
      </p:pic>
      <p:sp>
        <p:nvSpPr>
          <p:cNvPr id="10" name="Text 7"/>
          <p:cNvSpPr/>
          <p:nvPr/>
        </p:nvSpPr>
        <p:spPr>
          <a:xfrm>
            <a:off x="1600200" y="2852928"/>
            <a:ext cx="2157984" cy="2286000"/>
          </a:xfrm>
          <a:prstGeom prst="rect">
            <a:avLst/>
          </a:prstGeom>
          <a:noFill/>
          <a:ln/>
        </p:spPr>
        <p:txBody>
          <a:bodyPr wrap="square" lIns="0" tIns="0" rIns="0" bIns="0" rtlCol="0" anchor="ctr"/>
          <a:lstStyle/>
          <a:p>
            <a:pPr indent="0" marL="0">
              <a:lnSpc>
                <a:spcPts val="1740"/>
              </a:lnSpc>
              <a:buNone/>
            </a:pPr>
            <a:r>
              <a:rPr lang="en-US" sz="1200" dirty="0">
                <a:solidFill>
                  <a:srgbClr val="475569"/>
                </a:solidFill>
                <a:latin typeface="Microsoft JhengHei" pitchFamily="34" charset="0"/>
                <a:ea typeface="Microsoft JhengHei" pitchFamily="34" charset="-122"/>
                <a:cs typeface="Microsoft JhengHei" pitchFamily="34" charset="-120"/>
              </a:rPr>
              <a:t>沒有專職資安團隊，需要用有限預算補齊維運能力。</a:t>
            </a:r>
            <a:endParaRPr lang="en-US" sz="1200" dirty="0"/>
          </a:p>
        </p:txBody>
      </p:sp>
      <p:sp>
        <p:nvSpPr>
          <p:cNvPr id="11" name="Shape 8"/>
          <p:cNvSpPr/>
          <p:nvPr/>
        </p:nvSpPr>
        <p:spPr>
          <a:xfrm>
            <a:off x="4306824" y="2103120"/>
            <a:ext cx="3346704" cy="3200400"/>
          </a:xfrm>
          <a:prstGeom prst="roundRect">
            <a:avLst>
              <a:gd name="adj" fmla="val 2000"/>
            </a:avLst>
          </a:prstGeom>
          <a:solidFill>
            <a:srgbClr val="E4DBFC"/>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2" name="Shape 9"/>
          <p:cNvSpPr/>
          <p:nvPr/>
        </p:nvSpPr>
        <p:spPr>
          <a:xfrm>
            <a:off x="4306824" y="2103120"/>
            <a:ext cx="3346704" cy="548640"/>
          </a:xfrm>
          <a:prstGeom prst="roundRect">
            <a:avLst>
              <a:gd name="adj" fmla="val 11667"/>
            </a:avLst>
          </a:prstGeom>
          <a:solidFill>
            <a:srgbClr val="7C3AED"/>
          </a:solidFill>
          <a:ln/>
        </p:spPr>
      </p:sp>
      <p:sp>
        <p:nvSpPr>
          <p:cNvPr id="13" name="Shape 10"/>
          <p:cNvSpPr/>
          <p:nvPr/>
        </p:nvSpPr>
        <p:spPr>
          <a:xfrm>
            <a:off x="4306824" y="2562149"/>
            <a:ext cx="3346704" cy="89611"/>
          </a:xfrm>
          <a:prstGeom prst="rect">
            <a:avLst/>
          </a:prstGeom>
          <a:solidFill>
            <a:srgbClr val="7C3AED"/>
          </a:solidFill>
          <a:ln/>
        </p:spPr>
      </p:sp>
      <p:sp>
        <p:nvSpPr>
          <p:cNvPr id="14" name="Text 11"/>
          <p:cNvSpPr/>
          <p:nvPr/>
        </p:nvSpPr>
        <p:spPr>
          <a:xfrm>
            <a:off x="4535424" y="2103120"/>
            <a:ext cx="2889504" cy="548640"/>
          </a:xfrm>
          <a:prstGeom prst="rect">
            <a:avLst/>
          </a:prstGeom>
          <a:noFill/>
          <a:ln/>
        </p:spPr>
        <p:txBody>
          <a:bodyPr wrap="square" lIns="0" tIns="0" rIns="0" bIns="0" rtlCol="0" anchor="ctr"/>
          <a:lstStyle/>
          <a:p>
            <a:pP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政府機關單位</a:t>
            </a:r>
            <a:endParaRPr lang="en-US" sz="1500" dirty="0"/>
          </a:p>
        </p:txBody>
      </p:sp>
      <p:sp>
        <p:nvSpPr>
          <p:cNvPr id="15" name="Shape 12"/>
          <p:cNvSpPr/>
          <p:nvPr/>
        </p:nvSpPr>
        <p:spPr>
          <a:xfrm>
            <a:off x="4535424" y="2852928"/>
            <a:ext cx="566928" cy="566928"/>
          </a:xfrm>
          <a:prstGeom prst="ellipse">
            <a:avLst/>
          </a:prstGeom>
          <a:solidFill>
            <a:srgbClr val="EDE9FE"/>
          </a:solidFill>
          <a:ln/>
        </p:spPr>
      </p:sp>
      <p:pic>
        <p:nvPicPr>
          <p:cNvPr id="16" name="Image 1" descr="/tmp/pptx_build/assets/icons/bank-purple.png">    </p:cNvPr>
          <p:cNvPicPr>
            <a:picLocks noChangeAspect="1"/>
          </p:cNvPicPr>
          <p:nvPr/>
        </p:nvPicPr>
        <p:blipFill>
          <a:blip r:embed="rId3"/>
          <a:stretch>
            <a:fillRect/>
          </a:stretch>
        </p:blipFill>
        <p:spPr>
          <a:xfrm>
            <a:off x="4637471" y="2954975"/>
            <a:ext cx="362834" cy="362834"/>
          </a:xfrm>
          <a:prstGeom prst="rect">
            <a:avLst/>
          </a:prstGeom>
        </p:spPr>
      </p:pic>
      <p:sp>
        <p:nvSpPr>
          <p:cNvPr id="17" name="Text 13"/>
          <p:cNvSpPr/>
          <p:nvPr/>
        </p:nvSpPr>
        <p:spPr>
          <a:xfrm>
            <a:off x="5266944" y="2852928"/>
            <a:ext cx="2157984" cy="2286000"/>
          </a:xfrm>
          <a:prstGeom prst="rect">
            <a:avLst/>
          </a:prstGeom>
          <a:noFill/>
          <a:ln/>
        </p:spPr>
        <p:txBody>
          <a:bodyPr wrap="square" lIns="0" tIns="0" rIns="0" bIns="0" rtlCol="0" anchor="ctr"/>
          <a:lstStyle/>
          <a:p>
            <a:pPr indent="0" marL="0">
              <a:lnSpc>
                <a:spcPts val="1740"/>
              </a:lnSpc>
              <a:buNone/>
            </a:pPr>
            <a:r>
              <a:rPr lang="en-US" sz="1200" dirty="0">
                <a:solidFill>
                  <a:srgbClr val="475569"/>
                </a:solidFill>
                <a:latin typeface="Microsoft JhengHei" pitchFamily="34" charset="0"/>
                <a:ea typeface="Microsoft JhengHei" pitchFamily="34" charset="-122"/>
                <a:cs typeface="Microsoft JhengHei" pitchFamily="34" charset="-120"/>
              </a:rPr>
              <a:t>需符合資安規範，但既有設備分散、缺乏統一監控視角。</a:t>
            </a:r>
            <a:endParaRPr lang="en-US" sz="1200" dirty="0"/>
          </a:p>
        </p:txBody>
      </p:sp>
      <p:sp>
        <p:nvSpPr>
          <p:cNvPr id="18" name="Shape 14"/>
          <p:cNvSpPr/>
          <p:nvPr/>
        </p:nvSpPr>
        <p:spPr>
          <a:xfrm>
            <a:off x="7973568" y="2103120"/>
            <a:ext cx="3346704" cy="3200400"/>
          </a:xfrm>
          <a:prstGeom prst="roundRect">
            <a:avLst>
              <a:gd name="adj" fmla="val 2000"/>
            </a:avLst>
          </a:prstGeom>
          <a:solidFill>
            <a:srgbClr val="C3F3DD"/>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9" name="Shape 15"/>
          <p:cNvSpPr/>
          <p:nvPr/>
        </p:nvSpPr>
        <p:spPr>
          <a:xfrm>
            <a:off x="7973568" y="2103120"/>
            <a:ext cx="3346704" cy="548640"/>
          </a:xfrm>
          <a:prstGeom prst="roundRect">
            <a:avLst>
              <a:gd name="adj" fmla="val 11667"/>
            </a:avLst>
          </a:prstGeom>
          <a:solidFill>
            <a:srgbClr val="047857"/>
          </a:solidFill>
          <a:ln/>
        </p:spPr>
      </p:sp>
      <p:sp>
        <p:nvSpPr>
          <p:cNvPr id="20" name="Shape 16"/>
          <p:cNvSpPr/>
          <p:nvPr/>
        </p:nvSpPr>
        <p:spPr>
          <a:xfrm>
            <a:off x="7973568" y="2562149"/>
            <a:ext cx="3346704" cy="89611"/>
          </a:xfrm>
          <a:prstGeom prst="rect">
            <a:avLst/>
          </a:prstGeom>
          <a:solidFill>
            <a:srgbClr val="047857"/>
          </a:solidFill>
          <a:ln/>
        </p:spPr>
      </p:sp>
      <p:sp>
        <p:nvSpPr>
          <p:cNvPr id="21" name="Text 17"/>
          <p:cNvSpPr/>
          <p:nvPr/>
        </p:nvSpPr>
        <p:spPr>
          <a:xfrm>
            <a:off x="8202168" y="2103120"/>
            <a:ext cx="2889504" cy="548640"/>
          </a:xfrm>
          <a:prstGeom prst="rect">
            <a:avLst/>
          </a:prstGeom>
          <a:noFill/>
          <a:ln/>
        </p:spPr>
        <p:txBody>
          <a:bodyPr wrap="square" lIns="0" tIns="0" rIns="0" bIns="0" rtlCol="0" anchor="ctr"/>
          <a:lstStyle/>
          <a:p>
            <a:pPr indent="0" marL="0">
              <a:buNone/>
            </a:pPr>
            <a:r>
              <a:rPr lang="en-US" sz="1500" b="1" dirty="0">
                <a:solidFill>
                  <a:srgbClr val="FFFFFF"/>
                </a:solidFill>
                <a:latin typeface="Microsoft JhengHei" pitchFamily="34" charset="0"/>
                <a:ea typeface="Microsoft JhengHei" pitchFamily="34" charset="-122"/>
                <a:cs typeface="Microsoft JhengHei" pitchFamily="34" charset="-120"/>
              </a:rPr>
              <a:t>成長中的新創</a:t>
            </a:r>
            <a:endParaRPr lang="en-US" sz="1500" dirty="0"/>
          </a:p>
        </p:txBody>
      </p:sp>
      <p:sp>
        <p:nvSpPr>
          <p:cNvPr id="22" name="Shape 18"/>
          <p:cNvSpPr/>
          <p:nvPr/>
        </p:nvSpPr>
        <p:spPr>
          <a:xfrm>
            <a:off x="8202168" y="2852928"/>
            <a:ext cx="566928" cy="566928"/>
          </a:xfrm>
          <a:prstGeom prst="ellipse">
            <a:avLst/>
          </a:prstGeom>
          <a:solidFill>
            <a:srgbClr val="D1FAE5"/>
          </a:solidFill>
          <a:ln/>
        </p:spPr>
      </p:sp>
      <p:pic>
        <p:nvPicPr>
          <p:cNvPr id="23" name="Image 2" descr="/tmp/pptx_build/assets/icons/rocket-emerald.png">    </p:cNvPr>
          <p:cNvPicPr>
            <a:picLocks noChangeAspect="1"/>
          </p:cNvPicPr>
          <p:nvPr/>
        </p:nvPicPr>
        <p:blipFill>
          <a:blip r:embed="rId4"/>
          <a:stretch>
            <a:fillRect/>
          </a:stretch>
        </p:blipFill>
        <p:spPr>
          <a:xfrm>
            <a:off x="8304215" y="2954975"/>
            <a:ext cx="362834" cy="362834"/>
          </a:xfrm>
          <a:prstGeom prst="rect">
            <a:avLst/>
          </a:prstGeom>
        </p:spPr>
      </p:pic>
      <p:sp>
        <p:nvSpPr>
          <p:cNvPr id="24" name="Text 19"/>
          <p:cNvSpPr/>
          <p:nvPr/>
        </p:nvSpPr>
        <p:spPr>
          <a:xfrm>
            <a:off x="8933688" y="2852928"/>
            <a:ext cx="2157984" cy="2286000"/>
          </a:xfrm>
          <a:prstGeom prst="rect">
            <a:avLst/>
          </a:prstGeom>
          <a:noFill/>
          <a:ln/>
        </p:spPr>
        <p:txBody>
          <a:bodyPr wrap="square" lIns="0" tIns="0" rIns="0" bIns="0" rtlCol="0" anchor="ctr"/>
          <a:lstStyle/>
          <a:p>
            <a:pPr indent="0" marL="0">
              <a:lnSpc>
                <a:spcPts val="1740"/>
              </a:lnSpc>
              <a:buNone/>
            </a:pPr>
            <a:r>
              <a:rPr lang="en-US" sz="1200" dirty="0">
                <a:solidFill>
                  <a:srgbClr val="475569"/>
                </a:solidFill>
                <a:latin typeface="Microsoft JhengHei" pitchFamily="34" charset="0"/>
                <a:ea typeface="Microsoft JhengHei" pitchFamily="34" charset="-122"/>
                <a:cs typeface="Microsoft JhengHei" pitchFamily="34" charset="-120"/>
              </a:rPr>
              <a:t>業務快速擴張，資安建置要跟得上但不能拖慢腳步。</a:t>
            </a:r>
            <a:endParaRPr lang="en-US" sz="1200" dirty="0"/>
          </a:p>
        </p:txBody>
      </p:sp>
      <p:sp>
        <p:nvSpPr>
          <p:cNvPr id="25" name="Text 20"/>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COMPLETE OFFERING</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完整服務清單</a:t>
            </a:r>
            <a:endParaRPr lang="en-US" sz="3000" dirty="0"/>
          </a:p>
        </p:txBody>
      </p:sp>
      <p:sp>
        <p:nvSpPr>
          <p:cNvPr id="4" name="Shape 2"/>
          <p:cNvSpPr/>
          <p:nvPr/>
        </p:nvSpPr>
        <p:spPr>
          <a:xfrm>
            <a:off x="640080" y="1691640"/>
            <a:ext cx="5257800" cy="1051560"/>
          </a:xfrm>
          <a:prstGeom prst="roundRect">
            <a:avLst>
              <a:gd name="adj" fmla="val 6087"/>
            </a:avLst>
          </a:prstGeom>
          <a:solidFill>
            <a:srgbClr val="CCF3EC"/>
          </a:solidFill>
          <a:ln w="12700">
            <a:solidFill>
              <a:srgbClr val="E2E8F0"/>
            </a:solidFill>
            <a:prstDash val="solid"/>
          </a:ln>
        </p:spPr>
      </p:sp>
      <p:sp>
        <p:nvSpPr>
          <p:cNvPr id="5" name="Shape 3"/>
          <p:cNvSpPr/>
          <p:nvPr/>
        </p:nvSpPr>
        <p:spPr>
          <a:xfrm>
            <a:off x="868680" y="1988820"/>
            <a:ext cx="457200" cy="457200"/>
          </a:xfrm>
          <a:prstGeom prst="ellipse">
            <a:avLst/>
          </a:prstGeom>
          <a:solidFill>
            <a:srgbClr val="CCFBF1"/>
          </a:solidFill>
          <a:ln/>
        </p:spPr>
      </p:sp>
      <p:pic>
        <p:nvPicPr>
          <p:cNvPr id="6" name="Image 0" descr="/tmp/pptx_build/assets/icons/check-teal.png">    </p:cNvPr>
          <p:cNvPicPr>
            <a:picLocks noChangeAspect="1"/>
          </p:cNvPicPr>
          <p:nvPr/>
        </p:nvPicPr>
        <p:blipFill>
          <a:blip r:embed="rId2"/>
          <a:stretch>
            <a:fillRect/>
          </a:stretch>
        </p:blipFill>
        <p:spPr>
          <a:xfrm>
            <a:off x="969264" y="2089404"/>
            <a:ext cx="256032" cy="256032"/>
          </a:xfrm>
          <a:prstGeom prst="rect">
            <a:avLst/>
          </a:prstGeom>
        </p:spPr>
      </p:pic>
      <p:sp>
        <p:nvSpPr>
          <p:cNvPr id="7" name="Text 4"/>
          <p:cNvSpPr/>
          <p:nvPr/>
        </p:nvSpPr>
        <p:spPr>
          <a:xfrm>
            <a:off x="1508760" y="1801368"/>
            <a:ext cx="4114800" cy="832104"/>
          </a:xfrm>
          <a:prstGeom prst="rect">
            <a:avLst/>
          </a:prstGeom>
          <a:noFill/>
          <a:ln/>
        </p:spPr>
        <p:txBody>
          <a:bodyPr wrap="square" lIns="0" tIns="0" rIns="0" bIns="0" rtlCol="0" anchor="ctr"/>
          <a:lstStyle/>
          <a:p>
            <a:pPr indent="0" marL="0">
              <a:lnSpc>
                <a:spcPts val="1600"/>
              </a:lnSpc>
              <a:buNone/>
            </a:pPr>
            <a:r>
              <a:rPr lang="en-US" sz="1150" dirty="0">
                <a:solidFill>
                  <a:srgbClr val="0F172A"/>
                </a:solidFill>
                <a:latin typeface="Microsoft JhengHei" pitchFamily="34" charset="0"/>
                <a:ea typeface="Microsoft JhengHei" pitchFamily="34" charset="-122"/>
                <a:cs typeface="Microsoft JhengHei" pitchFamily="34" charset="-120"/>
              </a:rPr>
              <a:t>國際全球威脅情資訂閱、在地化風險解析與趨勢報告服務</a:t>
            </a:r>
            <a:endParaRPr lang="en-US" sz="1150" dirty="0"/>
          </a:p>
        </p:txBody>
      </p:sp>
      <p:sp>
        <p:nvSpPr>
          <p:cNvPr id="8" name="Shape 5"/>
          <p:cNvSpPr/>
          <p:nvPr/>
        </p:nvSpPr>
        <p:spPr>
          <a:xfrm>
            <a:off x="6263640" y="1691640"/>
            <a:ext cx="5257800" cy="1051560"/>
          </a:xfrm>
          <a:prstGeom prst="roundRect">
            <a:avLst>
              <a:gd name="adj" fmla="val 6087"/>
            </a:avLst>
          </a:prstGeom>
          <a:solidFill>
            <a:srgbClr val="D6E7FE"/>
          </a:solidFill>
          <a:ln w="12700">
            <a:solidFill>
              <a:srgbClr val="E2E8F0"/>
            </a:solidFill>
            <a:prstDash val="solid"/>
          </a:ln>
        </p:spPr>
      </p:sp>
      <p:sp>
        <p:nvSpPr>
          <p:cNvPr id="9" name="Shape 6"/>
          <p:cNvSpPr/>
          <p:nvPr/>
        </p:nvSpPr>
        <p:spPr>
          <a:xfrm>
            <a:off x="6492240" y="1988820"/>
            <a:ext cx="457200" cy="457200"/>
          </a:xfrm>
          <a:prstGeom prst="ellipse">
            <a:avLst/>
          </a:prstGeom>
          <a:solidFill>
            <a:srgbClr val="DBEAFE"/>
          </a:solidFill>
          <a:ln/>
        </p:spPr>
      </p:sp>
      <p:pic>
        <p:nvPicPr>
          <p:cNvPr id="10" name="Image 1" descr="/tmp/pptx_build/assets/icons/check-blue.png">    </p:cNvPr>
          <p:cNvPicPr>
            <a:picLocks noChangeAspect="1"/>
          </p:cNvPicPr>
          <p:nvPr/>
        </p:nvPicPr>
        <p:blipFill>
          <a:blip r:embed="rId3"/>
          <a:stretch>
            <a:fillRect/>
          </a:stretch>
        </p:blipFill>
        <p:spPr>
          <a:xfrm>
            <a:off x="6592824" y="2089404"/>
            <a:ext cx="256032" cy="256032"/>
          </a:xfrm>
          <a:prstGeom prst="rect">
            <a:avLst/>
          </a:prstGeom>
        </p:spPr>
      </p:pic>
      <p:sp>
        <p:nvSpPr>
          <p:cNvPr id="11" name="Text 7"/>
          <p:cNvSpPr/>
          <p:nvPr/>
        </p:nvSpPr>
        <p:spPr>
          <a:xfrm>
            <a:off x="7132320" y="1801368"/>
            <a:ext cx="4114800" cy="832104"/>
          </a:xfrm>
          <a:prstGeom prst="rect">
            <a:avLst/>
          </a:prstGeom>
          <a:noFill/>
          <a:ln/>
        </p:spPr>
        <p:txBody>
          <a:bodyPr wrap="square" lIns="0" tIns="0" rIns="0" bIns="0" rtlCol="0" anchor="ctr"/>
          <a:lstStyle/>
          <a:p>
            <a:pPr indent="0" marL="0">
              <a:lnSpc>
                <a:spcPts val="1600"/>
              </a:lnSpc>
              <a:buNone/>
            </a:pPr>
            <a:r>
              <a:rPr lang="en-US" sz="1150" dirty="0">
                <a:solidFill>
                  <a:srgbClr val="0F172A"/>
                </a:solidFill>
                <a:latin typeface="Microsoft JhengHei" pitchFamily="34" charset="0"/>
                <a:ea typeface="Microsoft JhengHei" pitchFamily="34" charset="-122"/>
                <a:cs typeface="Microsoft JhengHei" pitchFamily="34" charset="-120"/>
              </a:rPr>
              <a:t>企業整體資安架構規劃、防禦策略建置與資安落地輔導</a:t>
            </a:r>
            <a:endParaRPr lang="en-US" sz="1150" dirty="0"/>
          </a:p>
        </p:txBody>
      </p:sp>
      <p:sp>
        <p:nvSpPr>
          <p:cNvPr id="12" name="Shape 8"/>
          <p:cNvSpPr/>
          <p:nvPr/>
        </p:nvSpPr>
        <p:spPr>
          <a:xfrm>
            <a:off x="640080" y="2880360"/>
            <a:ext cx="5257800" cy="1051560"/>
          </a:xfrm>
          <a:prstGeom prst="roundRect">
            <a:avLst>
              <a:gd name="adj" fmla="val 6087"/>
            </a:avLst>
          </a:prstGeom>
          <a:solidFill>
            <a:srgbClr val="E4DBFC"/>
          </a:solidFill>
          <a:ln w="12700">
            <a:solidFill>
              <a:srgbClr val="E2E8F0"/>
            </a:solidFill>
            <a:prstDash val="solid"/>
          </a:ln>
        </p:spPr>
      </p:sp>
      <p:sp>
        <p:nvSpPr>
          <p:cNvPr id="13" name="Shape 9"/>
          <p:cNvSpPr/>
          <p:nvPr/>
        </p:nvSpPr>
        <p:spPr>
          <a:xfrm>
            <a:off x="868680" y="3177540"/>
            <a:ext cx="457200" cy="457200"/>
          </a:xfrm>
          <a:prstGeom prst="ellipse">
            <a:avLst/>
          </a:prstGeom>
          <a:solidFill>
            <a:srgbClr val="EDE9FE"/>
          </a:solidFill>
          <a:ln/>
        </p:spPr>
      </p:sp>
      <p:pic>
        <p:nvPicPr>
          <p:cNvPr id="14" name="Image 2" descr="/tmp/pptx_build/assets/icons/check-purple.png">    </p:cNvPr>
          <p:cNvPicPr>
            <a:picLocks noChangeAspect="1"/>
          </p:cNvPicPr>
          <p:nvPr/>
        </p:nvPicPr>
        <p:blipFill>
          <a:blip r:embed="rId4"/>
          <a:stretch>
            <a:fillRect/>
          </a:stretch>
        </p:blipFill>
        <p:spPr>
          <a:xfrm>
            <a:off x="969264" y="3278124"/>
            <a:ext cx="256032" cy="256032"/>
          </a:xfrm>
          <a:prstGeom prst="rect">
            <a:avLst/>
          </a:prstGeom>
        </p:spPr>
      </p:pic>
      <p:sp>
        <p:nvSpPr>
          <p:cNvPr id="15" name="Text 10"/>
          <p:cNvSpPr/>
          <p:nvPr/>
        </p:nvSpPr>
        <p:spPr>
          <a:xfrm>
            <a:off x="1508760" y="2990088"/>
            <a:ext cx="4114800" cy="832104"/>
          </a:xfrm>
          <a:prstGeom prst="rect">
            <a:avLst/>
          </a:prstGeom>
          <a:noFill/>
          <a:ln/>
        </p:spPr>
        <p:txBody>
          <a:bodyPr wrap="square" lIns="0" tIns="0" rIns="0" bIns="0" rtlCol="0" anchor="ctr"/>
          <a:lstStyle/>
          <a:p>
            <a:pPr indent="0" marL="0">
              <a:lnSpc>
                <a:spcPts val="1600"/>
              </a:lnSpc>
              <a:buNone/>
            </a:pPr>
            <a:r>
              <a:rPr lang="en-US" sz="1150" dirty="0">
                <a:solidFill>
                  <a:srgbClr val="0F172A"/>
                </a:solidFill>
                <a:latin typeface="Microsoft JhengHei" pitchFamily="34" charset="0"/>
                <a:ea typeface="Microsoft JhengHei" pitchFamily="34" charset="-122"/>
                <a:cs typeface="Microsoft JhengHei" pitchFamily="34" charset="-120"/>
              </a:rPr>
              <a:t>開源監控平台建置、全設備日誌匯整、可視化儀表板客製開發</a:t>
            </a:r>
            <a:endParaRPr lang="en-US" sz="1150" dirty="0"/>
          </a:p>
        </p:txBody>
      </p:sp>
      <p:sp>
        <p:nvSpPr>
          <p:cNvPr id="16" name="Shape 11"/>
          <p:cNvSpPr/>
          <p:nvPr/>
        </p:nvSpPr>
        <p:spPr>
          <a:xfrm>
            <a:off x="6263640" y="2880360"/>
            <a:ext cx="5257800" cy="1051560"/>
          </a:xfrm>
          <a:prstGeom prst="roundRect">
            <a:avLst>
              <a:gd name="adj" fmla="val 6087"/>
            </a:avLst>
          </a:prstGeom>
          <a:solidFill>
            <a:srgbClr val="FDEEC2"/>
          </a:solidFill>
          <a:ln w="12700">
            <a:solidFill>
              <a:srgbClr val="E2E8F0"/>
            </a:solidFill>
            <a:prstDash val="solid"/>
          </a:ln>
        </p:spPr>
      </p:sp>
      <p:sp>
        <p:nvSpPr>
          <p:cNvPr id="17" name="Shape 12"/>
          <p:cNvSpPr/>
          <p:nvPr/>
        </p:nvSpPr>
        <p:spPr>
          <a:xfrm>
            <a:off x="6492240" y="3177540"/>
            <a:ext cx="457200" cy="457200"/>
          </a:xfrm>
          <a:prstGeom prst="ellipse">
            <a:avLst/>
          </a:prstGeom>
          <a:solidFill>
            <a:srgbClr val="FEF3C7"/>
          </a:solidFill>
          <a:ln/>
        </p:spPr>
      </p:sp>
      <p:pic>
        <p:nvPicPr>
          <p:cNvPr id="18" name="Image 3" descr="/tmp/pptx_build/assets/icons/check-amber.png">    </p:cNvPr>
          <p:cNvPicPr>
            <a:picLocks noChangeAspect="1"/>
          </p:cNvPicPr>
          <p:nvPr/>
        </p:nvPicPr>
        <p:blipFill>
          <a:blip r:embed="rId5"/>
          <a:stretch>
            <a:fillRect/>
          </a:stretch>
        </p:blipFill>
        <p:spPr>
          <a:xfrm>
            <a:off x="6592824" y="3278124"/>
            <a:ext cx="256032" cy="256032"/>
          </a:xfrm>
          <a:prstGeom prst="rect">
            <a:avLst/>
          </a:prstGeom>
        </p:spPr>
      </p:pic>
      <p:sp>
        <p:nvSpPr>
          <p:cNvPr id="19" name="Text 13"/>
          <p:cNvSpPr/>
          <p:nvPr/>
        </p:nvSpPr>
        <p:spPr>
          <a:xfrm>
            <a:off x="7132320" y="2990088"/>
            <a:ext cx="4114800" cy="832104"/>
          </a:xfrm>
          <a:prstGeom prst="rect">
            <a:avLst/>
          </a:prstGeom>
          <a:noFill/>
          <a:ln/>
        </p:spPr>
        <p:txBody>
          <a:bodyPr wrap="square" lIns="0" tIns="0" rIns="0" bIns="0" rtlCol="0" anchor="ctr"/>
          <a:lstStyle/>
          <a:p>
            <a:pPr indent="0" marL="0">
              <a:lnSpc>
                <a:spcPts val="1600"/>
              </a:lnSpc>
              <a:buNone/>
            </a:pPr>
            <a:r>
              <a:rPr lang="en-US" sz="1150" dirty="0">
                <a:solidFill>
                  <a:srgbClr val="0F172A"/>
                </a:solidFill>
                <a:latin typeface="Microsoft JhengHei" pitchFamily="34" charset="0"/>
                <a:ea typeface="Microsoft JhengHei" pitchFamily="34" charset="-122"/>
                <a:cs typeface="Microsoft JhengHei" pitchFamily="34" charset="-120"/>
              </a:rPr>
              <a:t>AI 資安事件分析、誤報過濾、風險研判與自動對策系統建置</a:t>
            </a:r>
            <a:endParaRPr lang="en-US" sz="1150" dirty="0"/>
          </a:p>
        </p:txBody>
      </p:sp>
      <p:sp>
        <p:nvSpPr>
          <p:cNvPr id="20" name="Shape 14"/>
          <p:cNvSpPr/>
          <p:nvPr/>
        </p:nvSpPr>
        <p:spPr>
          <a:xfrm>
            <a:off x="640080" y="4069080"/>
            <a:ext cx="5257800" cy="1051560"/>
          </a:xfrm>
          <a:prstGeom prst="roundRect">
            <a:avLst>
              <a:gd name="adj" fmla="val 6087"/>
            </a:avLst>
          </a:prstGeom>
          <a:solidFill>
            <a:srgbClr val="C3F3DD"/>
          </a:solidFill>
          <a:ln w="12700">
            <a:solidFill>
              <a:srgbClr val="E2E8F0"/>
            </a:solidFill>
            <a:prstDash val="solid"/>
          </a:ln>
        </p:spPr>
      </p:sp>
      <p:sp>
        <p:nvSpPr>
          <p:cNvPr id="21" name="Shape 15"/>
          <p:cNvSpPr/>
          <p:nvPr/>
        </p:nvSpPr>
        <p:spPr>
          <a:xfrm>
            <a:off x="868680" y="4366260"/>
            <a:ext cx="457200" cy="457200"/>
          </a:xfrm>
          <a:prstGeom prst="ellipse">
            <a:avLst/>
          </a:prstGeom>
          <a:solidFill>
            <a:srgbClr val="D1FAE5"/>
          </a:solidFill>
          <a:ln/>
        </p:spPr>
      </p:sp>
      <p:pic>
        <p:nvPicPr>
          <p:cNvPr id="22" name="Image 4" descr="/tmp/pptx_build/assets/icons/check-emerald.png">    </p:cNvPr>
          <p:cNvPicPr>
            <a:picLocks noChangeAspect="1"/>
          </p:cNvPicPr>
          <p:nvPr/>
        </p:nvPicPr>
        <p:blipFill>
          <a:blip r:embed="rId6"/>
          <a:stretch>
            <a:fillRect/>
          </a:stretch>
        </p:blipFill>
        <p:spPr>
          <a:xfrm>
            <a:off x="969264" y="4466844"/>
            <a:ext cx="256032" cy="256032"/>
          </a:xfrm>
          <a:prstGeom prst="rect">
            <a:avLst/>
          </a:prstGeom>
        </p:spPr>
      </p:pic>
      <p:sp>
        <p:nvSpPr>
          <p:cNvPr id="23" name="Text 16"/>
          <p:cNvSpPr/>
          <p:nvPr/>
        </p:nvSpPr>
        <p:spPr>
          <a:xfrm>
            <a:off x="1508760" y="4178808"/>
            <a:ext cx="4114800" cy="832104"/>
          </a:xfrm>
          <a:prstGeom prst="rect">
            <a:avLst/>
          </a:prstGeom>
          <a:noFill/>
          <a:ln/>
        </p:spPr>
        <p:txBody>
          <a:bodyPr wrap="square" lIns="0" tIns="0" rIns="0" bIns="0" rtlCol="0" anchor="ctr"/>
          <a:lstStyle/>
          <a:p>
            <a:pPr indent="0" marL="0">
              <a:lnSpc>
                <a:spcPts val="1600"/>
              </a:lnSpc>
              <a:buNone/>
            </a:pPr>
            <a:r>
              <a:rPr lang="en-US" sz="1150" dirty="0">
                <a:solidFill>
                  <a:srgbClr val="0F172A"/>
                </a:solidFill>
                <a:latin typeface="Microsoft JhengHei" pitchFamily="34" charset="0"/>
                <a:ea typeface="Microsoft JhengHei" pitchFamily="34" charset="-122"/>
                <a:cs typeface="Microsoft JhengHei" pitchFamily="34" charset="-120"/>
              </a:rPr>
              <a:t>線上客製化告警機器人開發、分級通知與維運流程導入</a:t>
            </a:r>
            <a:endParaRPr lang="en-US" sz="1150" dirty="0"/>
          </a:p>
        </p:txBody>
      </p:sp>
      <p:sp>
        <p:nvSpPr>
          <p:cNvPr id="24" name="Shape 17"/>
          <p:cNvSpPr/>
          <p:nvPr/>
        </p:nvSpPr>
        <p:spPr>
          <a:xfrm>
            <a:off x="6263640" y="4069080"/>
            <a:ext cx="5257800" cy="1051560"/>
          </a:xfrm>
          <a:prstGeom prst="roundRect">
            <a:avLst>
              <a:gd name="adj" fmla="val 6087"/>
            </a:avLst>
          </a:prstGeom>
          <a:solidFill>
            <a:srgbClr val="E7ECF3"/>
          </a:solidFill>
          <a:ln w="12700">
            <a:solidFill>
              <a:srgbClr val="E2E8F0"/>
            </a:solidFill>
            <a:prstDash val="solid"/>
          </a:ln>
        </p:spPr>
      </p:sp>
      <p:sp>
        <p:nvSpPr>
          <p:cNvPr id="25" name="Shape 18"/>
          <p:cNvSpPr/>
          <p:nvPr/>
        </p:nvSpPr>
        <p:spPr>
          <a:xfrm>
            <a:off x="6492240" y="4366260"/>
            <a:ext cx="457200" cy="457200"/>
          </a:xfrm>
          <a:prstGeom prst="ellipse">
            <a:avLst/>
          </a:prstGeom>
          <a:solidFill>
            <a:srgbClr val="F1F5F9"/>
          </a:solidFill>
          <a:ln/>
        </p:spPr>
      </p:sp>
      <p:pic>
        <p:nvPicPr>
          <p:cNvPr id="26" name="Image 5" descr="/tmp/pptx_build/assets/icons/check-gray.png">    </p:cNvPr>
          <p:cNvPicPr>
            <a:picLocks noChangeAspect="1"/>
          </p:cNvPicPr>
          <p:nvPr/>
        </p:nvPicPr>
        <p:blipFill>
          <a:blip r:embed="rId7"/>
          <a:stretch>
            <a:fillRect/>
          </a:stretch>
        </p:blipFill>
        <p:spPr>
          <a:xfrm>
            <a:off x="6592824" y="4466844"/>
            <a:ext cx="256032" cy="256032"/>
          </a:xfrm>
          <a:prstGeom prst="rect">
            <a:avLst/>
          </a:prstGeom>
        </p:spPr>
      </p:pic>
      <p:sp>
        <p:nvSpPr>
          <p:cNvPr id="27" name="Text 19"/>
          <p:cNvSpPr/>
          <p:nvPr/>
        </p:nvSpPr>
        <p:spPr>
          <a:xfrm>
            <a:off x="7132320" y="4178808"/>
            <a:ext cx="4114800" cy="832104"/>
          </a:xfrm>
          <a:prstGeom prst="rect">
            <a:avLst/>
          </a:prstGeom>
          <a:noFill/>
          <a:ln/>
        </p:spPr>
        <p:txBody>
          <a:bodyPr wrap="square" lIns="0" tIns="0" rIns="0" bIns="0" rtlCol="0" anchor="ctr"/>
          <a:lstStyle/>
          <a:p>
            <a:pPr indent="0" marL="0">
              <a:lnSpc>
                <a:spcPts val="1600"/>
              </a:lnSpc>
              <a:buNone/>
            </a:pPr>
            <a:r>
              <a:rPr lang="en-US" sz="1150" dirty="0">
                <a:solidFill>
                  <a:srgbClr val="0F172A"/>
                </a:solidFill>
                <a:latin typeface="Microsoft JhengHei" pitchFamily="34" charset="0"/>
                <a:ea typeface="Microsoft JhengHei" pitchFamily="34" charset="-122"/>
                <a:cs typeface="Microsoft JhengHei" pitchFamily="34" charset="-120"/>
              </a:rPr>
              <a:t>資安事件溯源調查、風險盤點、弱點修補與防禦優化諮詢</a:t>
            </a:r>
            <a:endParaRPr lang="en-US" sz="1150" dirty="0"/>
          </a:p>
        </p:txBody>
      </p:sp>
      <p:sp>
        <p:nvSpPr>
          <p:cNvPr id="28" name="Text 20"/>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40080" y="731520"/>
            <a:ext cx="1051560" cy="1051560"/>
          </a:xfrm>
          <a:prstGeom prst="roundRect">
            <a:avLst>
              <a:gd name="adj" fmla="val 15652"/>
            </a:avLst>
          </a:prstGeom>
          <a:solidFill>
            <a:srgbClr val="FFFFFF"/>
          </a:solidFill>
          <a:ln/>
          <a:effectLst>
            <a:outerShdw sx="100000" sy="100000" kx="0" ky="0" algn="bl" rotWithShape="0" blurRad="203200" dist="63500" dir="5400000">
              <a:srgbClr val="0F172A">
                <a:alpha val="25000"/>
              </a:srgbClr>
            </a:outerShdw>
          </a:effectLst>
        </p:spPr>
      </p:sp>
      <p:pic>
        <p:nvPicPr>
          <p:cNvPr id="3" name="Image 0" descr="/tmp/pptx_build/assets/logo-icon.png">    </p:cNvPr>
          <p:cNvPicPr>
            <a:picLocks noChangeAspect="1"/>
          </p:cNvPicPr>
          <p:nvPr/>
        </p:nvPicPr>
        <p:blipFill>
          <a:blip r:embed="rId1"/>
          <a:stretch>
            <a:fillRect/>
          </a:stretch>
        </p:blipFill>
        <p:spPr>
          <a:xfrm>
            <a:off x="777240" y="873252"/>
            <a:ext cx="777240" cy="512064"/>
          </a:xfrm>
          <a:prstGeom prst="rect">
            <a:avLst/>
          </a:prstGeom>
        </p:spPr>
      </p:pic>
      <p:sp>
        <p:nvSpPr>
          <p:cNvPr id="4" name="Text 1"/>
          <p:cNvSpPr/>
          <p:nvPr/>
        </p:nvSpPr>
        <p:spPr>
          <a:xfrm>
            <a:off x="640080" y="2331720"/>
            <a:ext cx="10058400" cy="1005840"/>
          </a:xfrm>
          <a:prstGeom prst="rect">
            <a:avLst/>
          </a:prstGeom>
          <a:noFill/>
          <a:ln/>
        </p:spPr>
        <p:txBody>
          <a:bodyPr wrap="square" lIns="0" tIns="0" rIns="0" bIns="0" rtlCol="0" anchor="ctr"/>
          <a:lstStyle/>
          <a:p>
            <a:pPr indent="0" marL="0">
              <a:buNone/>
            </a:pPr>
            <a:r>
              <a:rPr lang="en-US" sz="3600" b="1" dirty="0">
                <a:solidFill>
                  <a:srgbClr val="FFFFFF"/>
                </a:solidFill>
                <a:latin typeface="Microsoft JhengHei" pitchFamily="34" charset="0"/>
                <a:ea typeface="Microsoft JhengHei" pitchFamily="34" charset="-122"/>
                <a:cs typeface="Microsoft JhengHei" pitchFamily="34" charset="-120"/>
              </a:rPr>
              <a:t>準備好</a:t>
            </a:r>
            <a:pPr indent="0" marL="0">
              <a:buNone/>
            </a:pPr>
            <a:r>
              <a:rPr lang="en-US" sz="3600" b="1" dirty="0">
                <a:solidFill>
                  <a:srgbClr val="6FA8FF"/>
                </a:solidFill>
                <a:latin typeface="Microsoft JhengHei" pitchFamily="34" charset="0"/>
                <a:ea typeface="Microsoft JhengHei" pitchFamily="34" charset="-122"/>
                <a:cs typeface="Microsoft JhengHei" pitchFamily="34" charset="-120"/>
              </a:rPr>
              <a:t>盤點資安缺口</a:t>
            </a:r>
            <a:pPr indent="0" marL="0">
              <a:buNone/>
            </a:pPr>
            <a:r>
              <a:rPr lang="en-US" sz="3600" b="1" dirty="0">
                <a:solidFill>
                  <a:srgbClr val="FFFFFF"/>
                </a:solidFill>
                <a:latin typeface="Microsoft JhengHei" pitchFamily="34" charset="0"/>
                <a:ea typeface="Microsoft JhengHei" pitchFamily="34" charset="-122"/>
                <a:cs typeface="Microsoft JhengHei" pitchFamily="34" charset="-120"/>
              </a:rPr>
              <a:t>了嗎？</a:t>
            </a:r>
            <a:endParaRPr lang="en-US" sz="3600" dirty="0"/>
          </a:p>
        </p:txBody>
      </p:sp>
      <p:sp>
        <p:nvSpPr>
          <p:cNvPr id="5" name="Text 2"/>
          <p:cNvSpPr/>
          <p:nvPr/>
        </p:nvSpPr>
        <p:spPr>
          <a:xfrm>
            <a:off x="640080" y="3246120"/>
            <a:ext cx="8229600" cy="457200"/>
          </a:xfrm>
          <a:prstGeom prst="rect">
            <a:avLst/>
          </a:prstGeom>
          <a:noFill/>
          <a:ln/>
        </p:spPr>
        <p:txBody>
          <a:bodyPr wrap="square" lIns="0" tIns="0" rIns="0" bIns="0" rtlCol="0" anchor="ctr"/>
          <a:lstStyle/>
          <a:p>
            <a:pPr indent="0" marL="0">
              <a:buNone/>
            </a:pPr>
            <a:r>
              <a:rPr lang="en-US" sz="1400" dirty="0">
                <a:solidFill>
                  <a:srgbClr val="AAB4C8"/>
                </a:solidFill>
                <a:latin typeface="Microsoft JhengHei" pitchFamily="34" charset="0"/>
                <a:ea typeface="Microsoft JhengHei" pitchFamily="34" charset="-122"/>
                <a:cs typeface="Microsoft JhengHei" pitchFamily="34" charset="-120"/>
              </a:rPr>
              <a:t>留下需求，我們會在一個工作天內回覆評估建議，不需要事先準備資料。</a:t>
            </a:r>
            <a:endParaRPr lang="en-US" sz="1400" dirty="0"/>
          </a:p>
        </p:txBody>
      </p:sp>
      <p:sp>
        <p:nvSpPr>
          <p:cNvPr id="6" name="Shape 3"/>
          <p:cNvSpPr/>
          <p:nvPr/>
        </p:nvSpPr>
        <p:spPr>
          <a:xfrm>
            <a:off x="640080" y="4023360"/>
            <a:ext cx="5669280" cy="1417320"/>
          </a:xfrm>
          <a:prstGeom prst="roundRect">
            <a:avLst>
              <a:gd name="adj" fmla="val 7742"/>
            </a:avLst>
          </a:prstGeom>
          <a:solidFill>
            <a:srgbClr val="121826"/>
          </a:solidFill>
          <a:ln w="12700">
            <a:solidFill>
              <a:srgbClr val="232B3D"/>
            </a:solidFill>
            <a:prstDash val="solid"/>
          </a:ln>
        </p:spPr>
      </p:sp>
      <p:sp>
        <p:nvSpPr>
          <p:cNvPr id="7" name="Shape 4"/>
          <p:cNvSpPr/>
          <p:nvPr/>
        </p:nvSpPr>
        <p:spPr>
          <a:xfrm>
            <a:off x="932688" y="4315968"/>
            <a:ext cx="566928" cy="566928"/>
          </a:xfrm>
          <a:prstGeom prst="ellipse">
            <a:avLst/>
          </a:prstGeom>
          <a:solidFill>
            <a:srgbClr val="2563EB"/>
          </a:solidFill>
          <a:ln/>
        </p:spPr>
      </p:sp>
      <p:pic>
        <p:nvPicPr>
          <p:cNvPr id="8" name="Image 1" descr="/tmp/pptx_build/assets/icons/envelope-white.png">    </p:cNvPr>
          <p:cNvPicPr>
            <a:picLocks noChangeAspect="1"/>
          </p:cNvPicPr>
          <p:nvPr/>
        </p:nvPicPr>
        <p:blipFill>
          <a:blip r:embed="rId2"/>
          <a:stretch>
            <a:fillRect/>
          </a:stretch>
        </p:blipFill>
        <p:spPr>
          <a:xfrm>
            <a:off x="1046074" y="4429354"/>
            <a:ext cx="340157" cy="340157"/>
          </a:xfrm>
          <a:prstGeom prst="rect">
            <a:avLst/>
          </a:prstGeom>
        </p:spPr>
      </p:pic>
      <p:sp>
        <p:nvSpPr>
          <p:cNvPr id="9" name="Text 5"/>
          <p:cNvSpPr/>
          <p:nvPr/>
        </p:nvSpPr>
        <p:spPr>
          <a:xfrm>
            <a:off x="1691640" y="4224528"/>
            <a:ext cx="3657600" cy="274320"/>
          </a:xfrm>
          <a:prstGeom prst="rect">
            <a:avLst/>
          </a:prstGeom>
          <a:noFill/>
          <a:ln/>
        </p:spPr>
        <p:txBody>
          <a:bodyPr wrap="square" lIns="0" tIns="0" rIns="0" bIns="0" rtlCol="0" anchor="ctr"/>
          <a:lstStyle/>
          <a:p>
            <a:pPr indent="0" marL="0">
              <a:buNone/>
            </a:pPr>
            <a:r>
              <a:rPr lang="en-US" sz="1050" b="1" spc="200" kern="0" dirty="0">
                <a:solidFill>
                  <a:srgbClr val="5B9CFF"/>
                </a:solidFill>
                <a:latin typeface="Consolas" pitchFamily="34" charset="0"/>
                <a:ea typeface="Consolas" pitchFamily="34" charset="-122"/>
                <a:cs typeface="Consolas" pitchFamily="34" charset="-120"/>
              </a:rPr>
              <a:t>EMAIL</a:t>
            </a:r>
            <a:endParaRPr lang="en-US" sz="1050" dirty="0"/>
          </a:p>
        </p:txBody>
      </p:sp>
      <p:sp>
        <p:nvSpPr>
          <p:cNvPr id="10" name="Text 6"/>
          <p:cNvSpPr/>
          <p:nvPr/>
        </p:nvSpPr>
        <p:spPr>
          <a:xfrm>
            <a:off x="1691640" y="4526280"/>
            <a:ext cx="4206240" cy="365760"/>
          </a:xfrm>
          <a:prstGeom prst="rect">
            <a:avLst/>
          </a:prstGeom>
          <a:noFill/>
          <a:ln/>
        </p:spPr>
        <p:txBody>
          <a:bodyPr wrap="square" lIns="0" tIns="0" rIns="0" bIns="0"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contact@tocloudai.com</a:t>
            </a:r>
            <a:endParaRPr lang="en-US" sz="1600" dirty="0"/>
          </a:p>
        </p:txBody>
      </p:sp>
      <p:sp>
        <p:nvSpPr>
          <p:cNvPr id="11" name="Shape 7"/>
          <p:cNvSpPr/>
          <p:nvPr/>
        </p:nvSpPr>
        <p:spPr>
          <a:xfrm>
            <a:off x="640080" y="5806440"/>
            <a:ext cx="128016" cy="128016"/>
          </a:xfrm>
          <a:prstGeom prst="ellipse">
            <a:avLst/>
          </a:prstGeom>
          <a:solidFill>
            <a:srgbClr val="0D9488"/>
          </a:solidFill>
          <a:ln/>
        </p:spPr>
      </p:sp>
      <p:sp>
        <p:nvSpPr>
          <p:cNvPr id="12" name="Shape 8"/>
          <p:cNvSpPr/>
          <p:nvPr/>
        </p:nvSpPr>
        <p:spPr>
          <a:xfrm>
            <a:off x="896112" y="5806440"/>
            <a:ext cx="128016" cy="128016"/>
          </a:xfrm>
          <a:prstGeom prst="ellipse">
            <a:avLst/>
          </a:prstGeom>
          <a:solidFill>
            <a:srgbClr val="2563EB"/>
          </a:solidFill>
          <a:ln/>
        </p:spPr>
      </p:sp>
      <p:sp>
        <p:nvSpPr>
          <p:cNvPr id="13" name="Shape 9"/>
          <p:cNvSpPr/>
          <p:nvPr/>
        </p:nvSpPr>
        <p:spPr>
          <a:xfrm>
            <a:off x="1152144" y="5806440"/>
            <a:ext cx="128016" cy="128016"/>
          </a:xfrm>
          <a:prstGeom prst="ellipse">
            <a:avLst/>
          </a:prstGeom>
          <a:solidFill>
            <a:srgbClr val="7C3AED"/>
          </a:solidFill>
          <a:ln/>
        </p:spPr>
      </p:sp>
      <p:sp>
        <p:nvSpPr>
          <p:cNvPr id="14" name="Shape 10"/>
          <p:cNvSpPr/>
          <p:nvPr/>
        </p:nvSpPr>
        <p:spPr>
          <a:xfrm>
            <a:off x="1408176" y="5806440"/>
            <a:ext cx="128016" cy="128016"/>
          </a:xfrm>
          <a:prstGeom prst="ellipse">
            <a:avLst/>
          </a:prstGeom>
          <a:solidFill>
            <a:srgbClr val="D97706"/>
          </a:solidFill>
          <a:ln/>
        </p:spPr>
      </p:sp>
      <p:sp>
        <p:nvSpPr>
          <p:cNvPr id="15" name="Text 11"/>
          <p:cNvSpPr/>
          <p:nvPr/>
        </p:nvSpPr>
        <p:spPr>
          <a:xfrm>
            <a:off x="640080" y="6172200"/>
            <a:ext cx="9144000" cy="320040"/>
          </a:xfrm>
          <a:prstGeom prst="rect">
            <a:avLst/>
          </a:prstGeom>
          <a:noFill/>
          <a:ln/>
        </p:spPr>
        <p:txBody>
          <a:bodyPr wrap="square" lIns="0" tIns="0" rIns="0" bIns="0" rtlCol="0" anchor="ctr"/>
          <a:lstStyle/>
          <a:p>
            <a:pPr indent="0" marL="0">
              <a:buNone/>
            </a:pPr>
            <a:r>
              <a:rPr lang="en-US" sz="1050" dirty="0">
                <a:solidFill>
                  <a:srgbClr val="64748B"/>
                </a:solidFill>
                <a:latin typeface="Microsoft JhengHei" pitchFamily="34" charset="0"/>
                <a:ea typeface="Microsoft JhengHei" pitchFamily="34" charset="-122"/>
                <a:cs typeface="Microsoft JhengHei" pitchFamily="34" charset="-120"/>
              </a:rPr>
              <a:t>向雲智慧 TocloudAI　｜　企業資安維運與威脅情資訂閱服務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2026-07-15T09:44:34Z</dcterms:created>
  <dcterms:modified xsi:type="dcterms:W3CDTF">2026-07-15T09:44:34Z</dcterms:modified>
</cp:coreProperties>
</file>